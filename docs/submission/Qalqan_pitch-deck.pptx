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2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Қалқан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F2937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Вишинг
(Корея → ru)</c:v>
                  </c:pt>
                  <c:pt idx="1">
                    <c:v>Скам против
звонков в банк</c:v>
                  </c:pt>
                  <c:pt idx="2">
                    <c:v>Скам против
той же темы</c:v>
                  </c:pt>
                  <c:pt idx="3">
                    <c:v>Перевод на
казахский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0.799</c:v>
                </c:pt>
                <c:pt idx="1">
                  <c:v>0.91</c:v>
                </c:pt>
                <c:pt idx="2">
                  <c:v>0.67</c:v>
                </c:pt>
                <c:pt idx="3">
                  <c:v>0.789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Правила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F2937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Вишинг
(Корея → ru)</c:v>
                  </c:pt>
                  <c:pt idx="1">
                    <c:v>Скам против
звонков в банк</c:v>
                  </c:pt>
                  <c:pt idx="2">
                    <c:v>Скам против
той же темы</c:v>
                  </c:pt>
                  <c:pt idx="3">
                    <c:v>Перевод на
казахский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0.505</c:v>
                </c:pt>
                <c:pt idx="1">
                  <c:v>0.505</c:v>
                </c:pt>
                <c:pt idx="2">
                  <c:v>0.505</c:v>
                </c:pt>
                <c:pt idx="3">
                  <c:v>0.512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200" u="none">
                  <a:solidFill>
                    <a:srgbClr val="1F29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F2937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9525" cap="flat">
              <a:solidFill>
                <a:srgbClr val="E3E6EC"/>
              </a:solidFill>
              <a:prstDash val="solid"/>
              <a:round/>
            </a:ln>
          </c:spPr>
        </c:majorGridlines>
        <c:numFmt formatCode="0.0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47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0.25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300">
              <a:solidFill>
                <a:srgbClr val="1F2937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Общая модель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0.00;;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Все данные
в одном месте</c:v>
                  </c:pt>
                  <c:pt idx="1">
                    <c:v>FedAvg
(обмен весами)</c:v>
                  </c:pt>
                  <c:pt idx="2">
                    <c:v>Банк 1
в одиночку</c:v>
                  </c:pt>
                  <c:pt idx="3">
                    <c:v>Банк 2
в одиночку</c:v>
                  </c:pt>
                  <c:pt idx="4">
                    <c:v>Банк 3
в одиночку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0.824</c:v>
                </c:pt>
                <c:pt idx="1">
                  <c:v>0.756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Банк в одиночку</c:v>
                </c:pt>
              </c:strCache>
            </c:strRef>
          </c:tx>
          <c:spPr>
            <a:solidFill>
              <a:srgbClr val="9AA3B2"/>
            </a:solidFill>
            <a:effectLst/>
          </c:spPr>
          <c:invertIfNegative val="0"/>
          <c:dLbls>
            <c:numFmt formatCode="0.00;;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Все данные
в одном месте</c:v>
                  </c:pt>
                  <c:pt idx="1">
                    <c:v>FedAvg
(обмен весами)</c:v>
                  </c:pt>
                  <c:pt idx="2">
                    <c:v>Банк 1
в одиночку</c:v>
                  </c:pt>
                  <c:pt idx="3">
                    <c:v>Банк 2
в одиночку</c:v>
                  </c:pt>
                  <c:pt idx="4">
                    <c:v>Банк 3
в одиночку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0.592</c:v>
                </c:pt>
                <c:pt idx="3">
                  <c:v>0.647</c:v>
                </c:pt>
                <c:pt idx="4">
                  <c:v>0.706</c:v>
                </c:pt>
              </c:numCache>
            </c:numRef>
          </c:val>
        </c:ser>
        <c:dLbls>
          <c:numFmt formatCode="0.00;;;" sourceLinked="0"/>
          <c:txPr>
            <a:bodyPr/>
            <a:lstStyle/>
            <a:p>
              <a:pPr>
                <a:defRPr b="1" i="0" strike="noStrike" sz="13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937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9525" cap="flat">
              <a:solidFill>
                <a:srgbClr val="E3E6EC"/>
              </a:solidFill>
              <a:prstDash val="solid"/>
              <a:round/>
            </a:ln>
          </c:spPr>
        </c:majorGridlines>
        <c:numFmt formatCode="0.0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47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0.25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Қалқан</c:v>
                </c:pt>
              </c:strCache>
            </c:strRef>
          </c:tx>
          <c:spPr>
            <a:solidFill>
              <a:srgbClr val="2A78D6"/>
            </a:solidFill>
            <a:ln w="25400" cap="flat">
              <a:solidFill>
                <a:srgbClr val="2A78D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2A78D6"/>
              </a:solidFill>
              <a:ln w="9525" cap="flat">
                <a:solidFill>
                  <a:srgbClr val="2A78D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0.48</c:v>
                </c:pt>
                <c:pt idx="1">
                  <c:v>0.472</c:v>
                </c:pt>
                <c:pt idx="2">
                  <c:v>1</c:v>
                </c:pt>
                <c:pt idx="3">
                  <c:v>1</c:v>
                </c:pt>
                <c:pt idx="4">
                  <c:v>1</c:v>
                </c:pt>
                <c:pt idx="5">
                  <c:v>1</c:v>
                </c:pt>
                <c:pt idx="6">
                  <c:v>1</c:v>
                </c:pt>
                <c:pt idx="7">
                  <c:v>1</c:v>
                </c:pt>
                <c:pt idx="8">
                  <c:v>1</c:v>
                </c:pt>
                <c:pt idx="9">
                  <c:v>1</c:v>
                </c:pt>
                <c:pt idx="10">
                  <c:v>0.999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Правила</c:v>
                </c:pt>
              </c:strCache>
            </c:strRef>
          </c:tx>
          <c:spPr>
            <a:solidFill>
              <a:srgbClr val="EB6834"/>
            </a:solidFill>
            <a:ln w="25400" cap="flat">
              <a:solidFill>
                <a:srgbClr val="EB683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EB6834"/>
              </a:solidFill>
              <a:ln w="9525" cap="flat">
                <a:solidFill>
                  <a:srgbClr val="EB683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0.55</c:v>
                </c:pt>
                <c:pt idx="4">
                  <c:v>0.495</c:v>
                </c:pt>
                <c:pt idx="5">
                  <c:v>0.446</c:v>
                </c:pt>
                <c:pt idx="6">
                  <c:v>0.401</c:v>
                </c:pt>
                <c:pt idx="7">
                  <c:v>0.85</c:v>
                </c:pt>
                <c:pt idx="8">
                  <c:v>0.765</c:v>
                </c:pt>
                <c:pt idx="9">
                  <c:v>0.689</c:v>
                </c:pt>
                <c:pt idx="10">
                  <c:v>0.62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sz="1100" b="0" i="0" u="none" strike="noStrike">
                    <a:solidFill>
                      <a:srgbClr val="000000"/>
                    </a:solidFill>
                    <a:latin typeface="Arial"/>
                  </a:rPr>
                  <a:t>реплика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47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9525" cap="flat">
              <a:solidFill>
                <a:srgbClr val="E3E6EC"/>
              </a:solidFill>
              <a:prstDash val="solid"/>
              <a:round/>
            </a:ln>
          </c:spPr>
        </c:majorGridlines>
        <c:numFmt formatCode="0%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47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0.25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Здравствуйте. Проект «Қалқан» — по-казахски «щит». Это система, которая слушает телефонный разговор и предупреждает человека о мошенничестве во время звонка — до того, как он продиктует код из SMS или переведёт деньги.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 данным Антифрод-центра Нацбанка — более 80 тысяч инцидентов, из них 22% — телефонное мошенничество. Действующий контур реактивный: он разбирает инцидент после того, как человек уже продиктовал код. А схемы меняются каждый месяц — в 2026 году появились SMS-бомбинг с «Антиспамом», фальшивые курьеры, «номер медицинской декларации», вербовка дропперов.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Любой мошеннический звонок — это сценарий: контакт, доверие, угроза, изоляция и давление, и только потом просьба назвать код. Правила на ключевых словах срабатывают на самой просьбе — это уже поздно. Мы поднимаем тревогу на стадии давления — в 85% случаев раньше, чем прозвучит просьба кода.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Речь переводится в текст. После каждой реплики модель XLM-RoBERTa с LoRA оценивает вероятность мошенничества по всему сказанному, накопитель сглаживает риск, и при превышении порога человек получает предупреждение с понятной причиной. Обучается только полпроцента параметров — это важно для федеративного обучения.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Реальные записи звонков клиентов публиковать нельзя, поэтому мы построили синтетический корпус по методике TeleAntiFraud: 22 сценария в 11 темах, каждая мошенническая схема — из официального предупреждения. Но синтетике нельзя верить на слово, поэтому модель проверена на реальных звонках — вишинге, записях скамеров и их переводе на казахский моделью KazLLM от ISSAI.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Это про честность метода. Первая модель показала на синтетике почти 0.98 — и провалилась на реальных звонках в банк: она выучила, что звонок про банк — это мошенничество. Дальше нашлись ещё две лазейки: тест собирался из тех же формулировок, что обучение, и вежливость — слова «официальный» и «спасибо» звучали только у настоящих сотрудников. Каждый раз мы перестраивали корпус и добавляли автоматическую проверку. После последней починки метрика на нашем корпусе даже упала — 0.85 против 0.81, — а на реальных звонках выросла. Это и есть проверка на честность: метрика на своих же данных плохой судья.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 реальных звонках модель, обученная только на синтетике, даёт AUC от 0.67 до 0.91; правила — 0.5, то есть угадывание: живая речь не совпадает с их ключевыми словами. На отложенном тесте модель предупреждает до запроса кода в 85% случаев против 36% у правил, причём ложных тревог у неё вчетверо меньше. Если выставить модели тот же recall, что у правил, она ошибается на легитимных звонках в сотни раз реже: 0.1% против 43%. Честно о слабом месте: легитимный звонок на ту же тему различается хуже — 0.67, и порог для реальных звонков нужно калибровать на данных банка.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Банки не могут обмениваться записями разговоров. Мы смоделировали три банка, каждый из которых видел только часть схем. В одиночку банк плохо ловит схемы, которых у него не было — 0.59 при 0.82 у общей модели. Федеративное усреднение весов LoRA даёт 0.76 — две трети разрыва закрыты, — а передаётся всего 6 мегабайт весов за раунд. Если же банки видели одни и те же схемы, выигрыш почти исчезает: польза именно в разном опыте.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Вот как это выглядит. Мошенник представляется техподдержкой и предлагает вернуть деньги за двойное списание. На третьей реплике модель уже поднимает тревогу — за три реплики до того, как человека заводят в мобильный банк. Правила молчат до восьмой. А на настоящей техподдержке на казахском правила дают ложную тревогу на фразе «не кладите трубку», а модель понимает контекст и остаётся спокойной. В демо есть и живой режим: телефон на громкой связи, ноутбук слушает, распознаёт речь и пересчитывает риск — от конца фразы до тревоги около полутора секунд. Распознавание — двуязычная модель NVIDIA, обученная сразу на казахском и русском.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Сейчас проект на уровне TRL 4. Следующий шаг — пилот с банком на обезличенных звонках колл-центра: там калибруется порог и вычитывается казахский. Затем интеграция с потоковым распознаванием речи от ISSAI и API для антифрода, пилот с клиентами — и сеть банков через Ассоциацию банков и Антифрод-центр.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Главные риски. Синтетика не равна живой речи — поэтому внешний тест и пилот. Порог не переносится — его калибрует каждый банк. Приватность — анализ на стороне банка, наружу уходят только веса. Мошенники меняют сценарии — федеративное дообучение. Клонированный голос по тексту почти не отличить — нужен акустический модуль.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Прототип сделан без затрат на вычисления — бесплатные GPU Kaggle и открытые модели. Для пилота нужен один GPU-сервер, вычитка казахского носителем и, главное, банк-партнёр с обезличенными звонками. Қалқан — это предупреждение, пока деньги ещё у клиента. Спасибо, готов ответить на вопросы.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5" Type="http://schemas.openxmlformats.org/officeDocument/2006/relationships/chart" Target="/ppt/charts/chart2.xml"/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234440"/>
            <a:ext cx="1143000" cy="1143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240280" y="109728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Қалқан</a:t>
            </a:r>
            <a:endParaRPr lang="en-US" sz="7200" dirty="0"/>
          </a:p>
        </p:txBody>
      </p:sp>
      <p:sp>
        <p:nvSpPr>
          <p:cNvPr id="4" name="Text 1"/>
          <p:cNvSpPr txBox="1"/>
          <p:nvPr/>
        </p:nvSpPr>
        <p:spPr>
          <a:xfrm>
            <a:off x="822960" y="2743200"/>
            <a:ext cx="10241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Детектор мошеннических звонков, который предупреждает до того, как вы продиктуете код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38862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BFD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Казахский · русский · смешанная речь   |   XLM-RoBERTa + LoRA   |   федеративное обучение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539496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FD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[ФИО], [курс, образовательная программа] · SDU University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BFD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Трек AI for Finance · Республиканский конкурс АБРК / КБТУ / NU,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Мошенник успевает раньше, чем антифрод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Антифрод-центр Национального Банка РК, данные на 01.01.2026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2286000" cy="2103120"/>
          </a:xfrm>
          <a:prstGeom prst="roundRect">
            <a:avLst>
              <a:gd name="adj" fmla="val 3478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87452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80 871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83464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инцидент с признаками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мошенничества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063240" y="1691640"/>
            <a:ext cx="2286000" cy="2103120"/>
          </a:xfrm>
          <a:prstGeom prst="roundRect">
            <a:avLst>
              <a:gd name="adj" fmla="val 3478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291840" y="187452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D0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22%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283464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телефонное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мошенничество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577840" y="1691640"/>
            <a:ext cx="2286000" cy="2103120"/>
          </a:xfrm>
          <a:prstGeom prst="roundRect">
            <a:avLst>
              <a:gd name="adj" fmla="val 3478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806440" y="187452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19%</a:t>
            </a:r>
            <a:endParaRPr lang="en-US" sz="4400" dirty="0"/>
          </a:p>
        </p:txBody>
      </p:sp>
      <p:sp>
        <p:nvSpPr>
          <p:cNvPr id="12" name="Text 10"/>
          <p:cNvSpPr txBox="1"/>
          <p:nvPr/>
        </p:nvSpPr>
        <p:spPr>
          <a:xfrm>
            <a:off x="5806440" y="283464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фейковые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инвестиции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4023360"/>
            <a:ext cx="7406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Заблокировано 2,8 млрд ₸, возвращено пострадавшим &gt; 500 млн ₸ — но это работа после инцидента.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275320" y="1691640"/>
            <a:ext cx="3337560" cy="4206240"/>
          </a:xfrm>
          <a:prstGeom prst="roundRect">
            <a:avLst>
              <a:gd name="adj" fmla="val 2192"/>
            </a:avLst>
          </a:prstGeom>
          <a:solidFill>
            <a:srgbClr val="FBEAEA"/>
          </a:solidFill>
          <a:ln w="12700">
            <a:solidFill>
              <a:srgbClr val="FBEAE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503920" y="1874520"/>
            <a:ext cx="640080" cy="640080"/>
          </a:xfrm>
          <a:prstGeom prst="ellipse">
            <a:avLst/>
          </a:prstGeom>
          <a:solidFill>
            <a:srgbClr val="D03B3B"/>
          </a:solidFill>
          <a:ln w="12700">
            <a:solidFill>
              <a:srgbClr val="D03B3B"/>
            </a:solidFill>
            <a:prstDash val="solid"/>
          </a:ln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57539" y="2028139"/>
            <a:ext cx="332842" cy="332842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9281160" y="20116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D0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Контур реактивный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8503920" y="2697480"/>
            <a:ext cx="29260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Инцидент разбирают, когда код уже продиктован, а деньги — на «безопасном счёте».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Схемы 2026 года: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SMS-бомбинг + «Антиспам»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«курьер» просит код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«номер медицинской декларации»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вербовка дропперов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клонирование голоса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4846320"/>
            <a:ext cx="7406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Правила на ключевых словах не успевают за новыми сценариями — формулировки меняются каждый месяц.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64008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Источники: Антифрод-центр НБ РК; предупреждения Генпрокуратуры, МВД, Минздрава, АФМ РК, полиции (2026).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Идея: предупредить во время звонка — на стадии давления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Мошеннический звонок развивается по сценарию. Решение принимается ДО запроса целевого действия.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2834640"/>
            <a:ext cx="1481328" cy="1234440"/>
          </a:xfrm>
          <a:prstGeom prst="roundRect">
            <a:avLst>
              <a:gd name="adj" fmla="val 5926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2944368"/>
            <a:ext cx="12070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S0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3273552"/>
            <a:ext cx="12070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Контакт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139696" y="2834640"/>
            <a:ext cx="1481328" cy="1234440"/>
          </a:xfrm>
          <a:prstGeom prst="roundRect">
            <a:avLst>
              <a:gd name="adj" fmla="val 5926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276856" y="2944368"/>
            <a:ext cx="12070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2276856" y="3273552"/>
            <a:ext cx="12070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Доверие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730752" y="2834640"/>
            <a:ext cx="1481328" cy="1234440"/>
          </a:xfrm>
          <a:prstGeom prst="roundRect">
            <a:avLst>
              <a:gd name="adj" fmla="val 5926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867912" y="2944368"/>
            <a:ext cx="12070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3867912" y="3273552"/>
            <a:ext cx="12070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Угроза или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приманка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321808" y="2834640"/>
            <a:ext cx="1481328" cy="1234440"/>
          </a:xfrm>
          <a:prstGeom prst="roundRect">
            <a:avLst>
              <a:gd name="adj" fmla="val 5926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58968" y="2944368"/>
            <a:ext cx="12070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458968" y="3273552"/>
            <a:ext cx="12070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Изоляция и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давление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912864" y="2834640"/>
            <a:ext cx="1481328" cy="1234440"/>
          </a:xfrm>
          <a:prstGeom prst="roundRect">
            <a:avLst>
              <a:gd name="adj" fmla="val 5926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050024" y="2944368"/>
            <a:ext cx="12070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S4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7050024" y="3273552"/>
            <a:ext cx="12070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«Следователь»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503920" y="2834640"/>
            <a:ext cx="1481328" cy="1234440"/>
          </a:xfrm>
          <a:prstGeom prst="roundRect">
            <a:avLst>
              <a:gd name="adj" fmla="val 5926"/>
            </a:avLst>
          </a:prstGeom>
          <a:solidFill>
            <a:srgbClr val="FBEAEA"/>
          </a:solidFill>
          <a:ln w="12700">
            <a:solidFill>
              <a:srgbClr val="FBEAE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641080" y="2944368"/>
            <a:ext cx="12070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0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S5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8641080" y="3273552"/>
            <a:ext cx="12070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Код / перевод /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AnyDesk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10094976" y="2834640"/>
            <a:ext cx="1481328" cy="1234440"/>
          </a:xfrm>
          <a:prstGeom prst="roundRect">
            <a:avLst>
              <a:gd name="adj" fmla="val 5926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0232136" y="2944368"/>
            <a:ext cx="12070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S6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10232136" y="3273552"/>
            <a:ext cx="12070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Закрепление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3685032" y="1874520"/>
            <a:ext cx="3054096" cy="731520"/>
          </a:xfrm>
          <a:prstGeom prst="roundRect">
            <a:avLst>
              <a:gd name="adj" fmla="val 10000"/>
            </a:avLst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3822192" y="1947672"/>
            <a:ext cx="28712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Қалқан: тревога здесь — в 85% случаев до кода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8458200" y="4343400"/>
            <a:ext cx="3054096" cy="731520"/>
          </a:xfrm>
          <a:prstGeom prst="roundRect">
            <a:avLst>
              <a:gd name="adj" fmla="val 10000"/>
            </a:avLst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595360" y="4416552"/>
            <a:ext cx="28712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Правила: здесь — уже поздно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53949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Антифрод-центр сегодня: после S6 — когда деньги ушли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548640" y="64008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Стадии — crime script по ScriptMind (arXiv:2601.13581); постановка инкрементальной детекции — arXiv:2609.20223.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работает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После каждой реплики модель пересчитывает риск по всему разговору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2057400" cy="2651760"/>
          </a:xfrm>
          <a:prstGeom prst="roundRect">
            <a:avLst>
              <a:gd name="adj" fmla="val 3556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65860" y="1920240"/>
            <a:ext cx="822960" cy="822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63370" y="2117750"/>
            <a:ext cx="427939" cy="427939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85800" y="288036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Звонок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3337560"/>
            <a:ext cx="1783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казахский, русский,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смешанная речь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2615184" y="2926080"/>
            <a:ext cx="164592" cy="256032"/>
          </a:xfrm>
          <a:prstGeom prst="rightArrow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788920" y="1737360"/>
            <a:ext cx="2057400" cy="2651760"/>
          </a:xfrm>
          <a:prstGeom prst="roundRect">
            <a:avLst>
              <a:gd name="adj" fmla="val 3556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406140" y="1920240"/>
            <a:ext cx="822960" cy="822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3650" y="2117750"/>
            <a:ext cx="427939" cy="427939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2926080" y="288036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ASR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2926080" y="3337560"/>
            <a:ext cx="1783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речь → текст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(ISSAI / Whisper)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4855464" y="2926080"/>
            <a:ext cx="164592" cy="256032"/>
          </a:xfrm>
          <a:prstGeom prst="rightArrow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5029200" y="1737360"/>
            <a:ext cx="2057400" cy="2651760"/>
          </a:xfrm>
          <a:prstGeom prst="roundRect">
            <a:avLst>
              <a:gd name="adj" fmla="val 3556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5646420" y="1920240"/>
            <a:ext cx="822960" cy="822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43930" y="2117750"/>
            <a:ext cx="427939" cy="427939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5166360" y="288036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XLM-R + LoRA</a:t>
            </a:r>
            <a:endParaRPr lang="en-US" sz="1600" dirty="0"/>
          </a:p>
        </p:txBody>
      </p:sp>
      <p:sp>
        <p:nvSpPr>
          <p:cNvPr id="20" name="Text 15"/>
          <p:cNvSpPr txBox="1"/>
          <p:nvPr/>
        </p:nvSpPr>
        <p:spPr>
          <a:xfrm>
            <a:off x="5166360" y="3337560"/>
            <a:ext cx="1783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вероятность мошенничества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 всему сказанному</a:t>
            </a:r>
            <a:endParaRPr lang="en-US" sz="1300" dirty="0"/>
          </a:p>
        </p:txBody>
      </p:sp>
      <p:sp>
        <p:nvSpPr>
          <p:cNvPr id="21" name="Shape 16"/>
          <p:cNvSpPr/>
          <p:nvPr/>
        </p:nvSpPr>
        <p:spPr>
          <a:xfrm>
            <a:off x="7095744" y="2926080"/>
            <a:ext cx="164592" cy="256032"/>
          </a:xfrm>
          <a:prstGeom prst="rightArrow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7269480" y="1737360"/>
            <a:ext cx="2057400" cy="2651760"/>
          </a:xfrm>
          <a:prstGeom prst="roundRect">
            <a:avLst>
              <a:gd name="adj" fmla="val 3556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7886700" y="1920240"/>
            <a:ext cx="822960" cy="822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84210" y="2117750"/>
            <a:ext cx="427939" cy="427939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7406640" y="288036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Накопитель риска</a:t>
            </a:r>
            <a:endParaRPr lang="en-US" sz="1600" dirty="0"/>
          </a:p>
        </p:txBody>
      </p:sp>
      <p:sp>
        <p:nvSpPr>
          <p:cNvPr id="26" name="Text 20"/>
          <p:cNvSpPr txBox="1"/>
          <p:nvPr/>
        </p:nvSpPr>
        <p:spPr>
          <a:xfrm>
            <a:off x="7406640" y="3337560"/>
            <a:ext cx="1783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сглаживание и порог,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подобранные на данных</a:t>
            </a:r>
            <a:endParaRPr lang="en-US" sz="1300" dirty="0"/>
          </a:p>
        </p:txBody>
      </p:sp>
      <p:sp>
        <p:nvSpPr>
          <p:cNvPr id="27" name="Shape 21"/>
          <p:cNvSpPr/>
          <p:nvPr/>
        </p:nvSpPr>
        <p:spPr>
          <a:xfrm>
            <a:off x="9336024" y="2926080"/>
            <a:ext cx="164592" cy="256032"/>
          </a:xfrm>
          <a:prstGeom prst="rightArrow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sp>
        <p:nvSpPr>
          <p:cNvPr id="28" name="Shape 22"/>
          <p:cNvSpPr/>
          <p:nvPr/>
        </p:nvSpPr>
        <p:spPr>
          <a:xfrm>
            <a:off x="9509760" y="1737360"/>
            <a:ext cx="2057400" cy="2651760"/>
          </a:xfrm>
          <a:prstGeom prst="roundRect">
            <a:avLst>
              <a:gd name="adj" fmla="val 3556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29" name="Shape 23"/>
          <p:cNvSpPr/>
          <p:nvPr/>
        </p:nvSpPr>
        <p:spPr>
          <a:xfrm>
            <a:off x="10126980" y="1920240"/>
            <a:ext cx="822960" cy="822960"/>
          </a:xfrm>
          <a:prstGeom prst="ellipse">
            <a:avLst/>
          </a:prstGeom>
          <a:solidFill>
            <a:srgbClr val="D03B3B"/>
          </a:solidFill>
          <a:ln w="12700">
            <a:solidFill>
              <a:srgbClr val="D03B3B"/>
            </a:solidFill>
            <a:prstDash val="solid"/>
          </a:ln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24490" y="2117750"/>
            <a:ext cx="427939" cy="427939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9646920" y="288036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Тревога + причина</a:t>
            </a:r>
            <a:endParaRPr lang="en-US" sz="1600" dirty="0"/>
          </a:p>
        </p:txBody>
      </p:sp>
      <p:sp>
        <p:nvSpPr>
          <p:cNvPr id="32" name="Text 25"/>
          <p:cNvSpPr txBox="1"/>
          <p:nvPr/>
        </p:nvSpPr>
        <p:spPr>
          <a:xfrm>
            <a:off x="9646920" y="3337560"/>
            <a:ext cx="1783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«требуют не класть трубку»,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«просят код из SMS»</a:t>
            </a:r>
            <a:endParaRPr lang="en-US" sz="1300" dirty="0"/>
          </a:p>
        </p:txBody>
      </p:sp>
      <p:sp>
        <p:nvSpPr>
          <p:cNvPr id="33" name="Text 26"/>
          <p:cNvSpPr txBox="1"/>
          <p:nvPr/>
        </p:nvSpPr>
        <p:spPr>
          <a:xfrm>
            <a:off x="548640" y="480060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1,48 млн</a:t>
            </a:r>
            <a:endParaRPr lang="en-US" sz="2800" dirty="0"/>
          </a:p>
        </p:txBody>
      </p:sp>
      <p:sp>
        <p:nvSpPr>
          <p:cNvPr id="34" name="Text 27"/>
          <p:cNvSpPr txBox="1"/>
          <p:nvPr/>
        </p:nvSpPr>
        <p:spPr>
          <a:xfrm>
            <a:off x="548640" y="534924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обучаемых параметров из 280 млн (0,5%) — LoRA</a:t>
            </a:r>
            <a:endParaRPr lang="en-US" sz="1400" dirty="0"/>
          </a:p>
        </p:txBody>
      </p:sp>
      <p:sp>
        <p:nvSpPr>
          <p:cNvPr id="35" name="Text 28"/>
          <p:cNvSpPr txBox="1"/>
          <p:nvPr/>
        </p:nvSpPr>
        <p:spPr>
          <a:xfrm>
            <a:off x="4297680" y="480060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без ролей</a:t>
            </a:r>
            <a:endParaRPr lang="en-US" sz="2800" dirty="0"/>
          </a:p>
        </p:txBody>
      </p:sp>
      <p:sp>
        <p:nvSpPr>
          <p:cNvPr id="36" name="Text 29"/>
          <p:cNvSpPr txBox="1"/>
          <p:nvPr/>
        </p:nvSpPr>
        <p:spPr>
          <a:xfrm>
            <a:off x="4297680" y="534924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нужно знать, кто говорит: работает на сыром ASR</a:t>
            </a:r>
            <a:endParaRPr lang="en-US" sz="1400" dirty="0"/>
          </a:p>
        </p:txBody>
      </p:sp>
      <p:sp>
        <p:nvSpPr>
          <p:cNvPr id="37" name="Text 30"/>
          <p:cNvSpPr txBox="1"/>
          <p:nvPr/>
        </p:nvSpPr>
        <p:spPr>
          <a:xfrm>
            <a:off x="8046720" y="480060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языка</a:t>
            </a:r>
            <a:endParaRPr lang="en-US" sz="2800" dirty="0"/>
          </a:p>
        </p:txBody>
      </p:sp>
      <p:sp>
        <p:nvSpPr>
          <p:cNvPr id="38" name="Text 31"/>
          <p:cNvSpPr txBox="1"/>
          <p:nvPr/>
        </p:nvSpPr>
        <p:spPr>
          <a:xfrm>
            <a:off x="8046720" y="534924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одна модель для kk, ru и смешанной речи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Данные и проверка на реальных звонках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Обучение — на синтетике без персональных данных; оценка — на реальных публичных записях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5448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24028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сценария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3337560" y="155448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3337560" y="224028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тем звонков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126480" y="155448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44 580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6126480" y="224028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реплик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155448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8915400" y="224028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персональных данных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48640" y="2743200"/>
            <a:ext cx="5440680" cy="3246120"/>
          </a:xfrm>
          <a:prstGeom prst="roundRect">
            <a:avLst>
              <a:gd name="adj" fmla="val 2254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7240" y="2926080"/>
            <a:ext cx="594360" cy="59436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9886" y="3068726"/>
            <a:ext cx="309067" cy="309067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1508760" y="301752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Синтетический корпус Қалқан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777240" y="3657600"/>
            <a:ext cx="50292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мошеннических схем — каждая из публикации ведомства РК 2026: НБ РК, Генпрокуратура, МВД, ЕНПФ, Минздрав, АФМ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легитимных звонков на те же темы: настоящий банк, курьер, техподдержка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Разметка по стадиям и 23 красным флагам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2 501 формулировка; отложенный тест — 0% реплик звонящего из обучающих шаблонов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6172200" y="2743200"/>
            <a:ext cx="5440680" cy="3246120"/>
          </a:xfrm>
          <a:prstGeom prst="roundRect">
            <a:avLst>
              <a:gd name="adj" fmla="val 2254"/>
            </a:avLst>
          </a:prstGeom>
          <a:solidFill>
            <a:srgbClr val="E8F1FC"/>
          </a:solidFill>
          <a:ln w="12700">
            <a:solidFill>
              <a:srgbClr val="E8F1FC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400800" y="2926080"/>
            <a:ext cx="594360" cy="5943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3446" y="3068726"/>
            <a:ext cx="309067" cy="309067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7132320" y="301752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Внешний тест на реальных звонках</a:t>
            </a:r>
            <a:endParaRPr lang="en-US" sz="1800" dirty="0"/>
          </a:p>
        </p:txBody>
      </p:sp>
      <p:sp>
        <p:nvSpPr>
          <p:cNvPr id="21" name="Text 17"/>
          <p:cNvSpPr txBox="1"/>
          <p:nvPr/>
        </p:nvSpPr>
        <p:spPr>
          <a:xfrm>
            <a:off x="6400800" y="3657600"/>
            <a:ext cx="50292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реальных вишинг-звонков, опубликованных финрегулятором Кореи (FSS), против 200 обычных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211 звонков скамеров против 211 звонков в банк (публичные записи)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Перевод на казахский — модель ISSAI KazLLM (партнёр конкурса)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записи звонков мошенников жителям Казахстана</a:t>
            </a:r>
            <a:endParaRPr lang="en-US" sz="1400" dirty="0"/>
          </a:p>
        </p:txBody>
      </p:sp>
      <p:sp>
        <p:nvSpPr>
          <p:cNvPr id="22" name="Text 18"/>
          <p:cNvSpPr txBox="1"/>
          <p:nvPr/>
        </p:nvSpPr>
        <p:spPr>
          <a:xfrm>
            <a:off x="548640" y="64008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Реальных казахоязычных записей мошеннических звонков в открытом доступе нет — это зафиксировано как ограничение.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Нашли и устранили три ловушки синтетических данных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Корпус переделан трижды: тема выдавала класс, формулировки теста повторяли обучение, вежливость выдавала настоящего сотрудника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4937760" cy="4206240"/>
          </a:xfrm>
          <a:prstGeom prst="roundRect">
            <a:avLst>
              <a:gd name="adj" fmla="val 1739"/>
            </a:avLst>
          </a:prstGeom>
          <a:solidFill>
            <a:srgbClr val="FBEAEA"/>
          </a:solidFill>
          <a:ln w="12700">
            <a:solidFill>
              <a:srgbClr val="FBEA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675120" y="1737360"/>
            <a:ext cx="4937760" cy="4206240"/>
          </a:xfrm>
          <a:prstGeom prst="roundRect">
            <a:avLst>
              <a:gd name="adj" fmla="val 1739"/>
            </a:avLst>
          </a:prstGeom>
          <a:solidFill>
            <a:srgbClr val="E8F1FC"/>
          </a:solidFill>
          <a:ln w="12700">
            <a:solidFill>
              <a:srgbClr val="E8F1F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87452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D0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Было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6949440" y="187452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Стало — корпус v3.1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51460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D0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0.911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06324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 простой модели по одному приветствию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949440" y="251460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0.517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6949440" y="306324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 простой модели по одному приветствию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361188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D0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 88%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" y="416052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Реплики теста, собранные из обучающих формулировок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949440" y="361188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6949440" y="416052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Реплики теста, собранные из обучающих формулировок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470916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D0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0.41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" y="525780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Реальные звонки: скам против звонков в банк, AUC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949440" y="470916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0.91</a:t>
            </a:r>
            <a:endParaRPr lang="en-US" sz="3000" dirty="0"/>
          </a:p>
        </p:txBody>
      </p:sp>
      <p:sp>
        <p:nvSpPr>
          <p:cNvPr id="19" name="Text 17"/>
          <p:cNvSpPr txBox="1"/>
          <p:nvPr/>
        </p:nvSpPr>
        <p:spPr>
          <a:xfrm>
            <a:off x="6949440" y="525780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Реальные звонки: скам против звонков в банк, AUC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669280" y="3566160"/>
            <a:ext cx="822960" cy="548640"/>
          </a:xfrm>
          <a:prstGeom prst="rightArrow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8640" y="60350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Каждая ловушка теперь проверяется автоматически: темы, начало разговора, форма реплик, слова доверия (check_separability.py)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Результаты: работает на реальных звонках — правила нет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ROC AUC на реальных звонках, среднее по 3 запускам (0.5 — случайное угадывание)</a:t>
            </a:r>
            <a:endParaRPr lang="en-US" sz="16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508760"/>
          <a:ext cx="69494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818120" y="1600200"/>
            <a:ext cx="3794760" cy="2148840"/>
          </a:xfrm>
          <a:prstGeom prst="roundRect">
            <a:avLst>
              <a:gd name="adj" fmla="val 3404"/>
            </a:avLst>
          </a:prstGeom>
          <a:solidFill>
            <a:srgbClr val="E8F1FC"/>
          </a:solidFill>
          <a:ln w="12700">
            <a:solidFill>
              <a:srgbClr val="E8F1FC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046720" y="173736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85%</a:t>
            </a:r>
            <a:endParaRPr lang="en-US" sz="4400" dirty="0"/>
          </a:p>
        </p:txBody>
      </p:sp>
      <p:sp>
        <p:nvSpPr>
          <p:cNvPr id="7" name="Text 4"/>
          <p:cNvSpPr txBox="1"/>
          <p:nvPr/>
        </p:nvSpPr>
        <p:spPr>
          <a:xfrm>
            <a:off x="8046720" y="2606040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тревог — ДО запроса кода или перевода (правила: 36%), и ложных тревог вчетверо меньше: 9% против 43%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7818120" y="3931920"/>
            <a:ext cx="3794760" cy="2148840"/>
          </a:xfrm>
          <a:prstGeom prst="roundRect">
            <a:avLst>
              <a:gd name="adj" fmla="val 3404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046720" y="406908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из 4</a:t>
            </a:r>
            <a:endParaRPr lang="en-US" sz="4400" dirty="0"/>
          </a:p>
        </p:txBody>
      </p:sp>
      <p:sp>
        <p:nvSpPr>
          <p:cNvPr id="10" name="Text 7"/>
          <p:cNvSpPr txBox="1"/>
          <p:nvPr/>
        </p:nvSpPr>
        <p:spPr>
          <a:xfrm>
            <a:off x="8046720" y="4937760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реальных звонков мошенников жителям Казахстана распознали правила: живая речь не совпадает с их ключевыми словами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64008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Самый трудный набор — легитимный звонок на ту же тему (0.67): главное направление доработки. Порог нужно калибровать на данных банка.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Банки обучают модель вместе, не передавая разговоры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Эксперимент: 3 банка, каждый видел только часть мошеннических схем. Метрика — ROC AUC на отложенном тесте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2103120" cy="1051560"/>
          </a:xfrm>
          <a:prstGeom prst="roundRect">
            <a:avLst>
              <a:gd name="adj" fmla="val 6957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965960"/>
            <a:ext cx="685800" cy="68580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" y="2130552"/>
            <a:ext cx="356616" cy="35661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63040" y="2011680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Банк 1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463040" y="2331720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звонки — у себя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2743200" y="2167128"/>
            <a:ext cx="685800" cy="274320"/>
          </a:xfrm>
          <a:prstGeom prst="rightArrow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48640" y="3108960"/>
            <a:ext cx="2103120" cy="1051560"/>
          </a:xfrm>
          <a:prstGeom prst="roundRect">
            <a:avLst>
              <a:gd name="adj" fmla="val 6957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85800" y="3291840"/>
            <a:ext cx="685800" cy="68580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3456432"/>
            <a:ext cx="356616" cy="35661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463040" y="3337560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Банк 2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1463040" y="3657600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звонки — у себя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2743200" y="3493008"/>
            <a:ext cx="685800" cy="274320"/>
          </a:xfrm>
          <a:prstGeom prst="rightArrow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548640" y="4434840"/>
            <a:ext cx="2103120" cy="1051560"/>
          </a:xfrm>
          <a:prstGeom prst="roundRect">
            <a:avLst>
              <a:gd name="adj" fmla="val 6957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685800" y="4617720"/>
            <a:ext cx="685800" cy="68580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" y="4782312"/>
            <a:ext cx="356616" cy="356616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463040" y="4663440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Банк 3</a:t>
            </a:r>
            <a:endParaRPr lang="en-US" sz="1500" dirty="0"/>
          </a:p>
        </p:txBody>
      </p:sp>
      <p:sp>
        <p:nvSpPr>
          <p:cNvPr id="20" name="Text 15"/>
          <p:cNvSpPr txBox="1"/>
          <p:nvPr/>
        </p:nvSpPr>
        <p:spPr>
          <a:xfrm>
            <a:off x="1463040" y="4983480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звонки — у себя</a:t>
            </a:r>
            <a:endParaRPr lang="en-US" sz="1100" dirty="0"/>
          </a:p>
        </p:txBody>
      </p:sp>
      <p:sp>
        <p:nvSpPr>
          <p:cNvPr id="21" name="Shape 16"/>
          <p:cNvSpPr/>
          <p:nvPr/>
        </p:nvSpPr>
        <p:spPr>
          <a:xfrm>
            <a:off x="2743200" y="4818888"/>
            <a:ext cx="685800" cy="274320"/>
          </a:xfrm>
          <a:prstGeom prst="rightArrow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3566160" y="2468880"/>
            <a:ext cx="1737360" cy="2148840"/>
          </a:xfrm>
          <a:prstGeom prst="roundRect">
            <a:avLst>
              <a:gd name="adj" fmla="val 4211"/>
            </a:avLst>
          </a:prstGeom>
          <a:solidFill>
            <a:srgbClr val="E8F1FC"/>
          </a:solidFill>
          <a:ln w="12700">
            <a:solidFill>
              <a:srgbClr val="E8F1FC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4069080" y="2651760"/>
            <a:ext cx="731520" cy="7315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44645" y="2827325"/>
            <a:ext cx="380390" cy="38039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3657600" y="352044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Усреднение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весов LoRA</a:t>
            </a:r>
            <a:endParaRPr lang="en-US" sz="1400" dirty="0"/>
          </a:p>
        </p:txBody>
      </p:sp>
      <p:sp>
        <p:nvSpPr>
          <p:cNvPr id="26" name="Text 20"/>
          <p:cNvSpPr txBox="1"/>
          <p:nvPr/>
        </p:nvSpPr>
        <p:spPr>
          <a:xfrm>
            <a:off x="3657600" y="416052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5,9 МБ за раунд</a:t>
            </a:r>
            <a:endParaRPr lang="en-US" sz="1200" dirty="0"/>
          </a:p>
        </p:txBody>
      </p:sp>
      <p:graphicFrame>
        <p:nvGraphicFramePr>
          <p:cNvPr id="27" name="Chart 0" descr=""/>
          <p:cNvGraphicFramePr/>
          <p:nvPr/>
        </p:nvGraphicFramePr>
        <p:xfrm>
          <a:off x="5669280" y="1600200"/>
          <a:ext cx="5943600" cy="4160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28" name="Text 21"/>
          <p:cNvSpPr txBox="1"/>
          <p:nvPr/>
        </p:nvSpPr>
        <p:spPr>
          <a:xfrm>
            <a:off x="548640" y="585216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Банк, который не встречал схему, ловит её плохо (0.59). Обмен весами закрывает две трети разрыва — без передачи записей.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Демо: риск растёт по ходу разговора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Реплики из отложенного набора — модель их не видела. Streamlit-прототип: разговор по репликам и живой звонок</a:t>
            </a:r>
            <a:endParaRPr lang="en-US" sz="16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783080"/>
          <a:ext cx="612648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150876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Мошенник-«техподдержка» (рус.)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6949440" y="1783080"/>
            <a:ext cx="4663440" cy="1143000"/>
          </a:xfrm>
          <a:prstGeom prst="roundRect">
            <a:avLst>
              <a:gd name="adj" fmla="val 6400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132320" y="1984248"/>
            <a:ext cx="274320" cy="2743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589520" y="1920240"/>
            <a:ext cx="3886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Реплика 3 — тревога модели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7589520" y="2286000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«Чтобы вернуть деньги за двойное списание, нужно подключиться к приложению» — за 3 реплики до захвата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949440" y="3108960"/>
            <a:ext cx="4663440" cy="1143000"/>
          </a:xfrm>
          <a:prstGeom prst="roundRect">
            <a:avLst>
              <a:gd name="adj" fmla="val 6400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132320" y="3310128"/>
            <a:ext cx="274320" cy="274320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589520" y="3246120"/>
            <a:ext cx="3886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Реплика 8 — правила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7589520" y="3611880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Ключевые слова срабатывают, когда человек уже в мобильном банке под диктовку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949440" y="4434840"/>
            <a:ext cx="4663440" cy="1143000"/>
          </a:xfrm>
          <a:prstGeom prst="roundRect">
            <a:avLst>
              <a:gd name="adj" fmla="val 6400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7132320" y="4636008"/>
            <a:ext cx="274320" cy="274320"/>
          </a:xfrm>
          <a:prstGeom prst="ellipse">
            <a:avLst/>
          </a:prstGeom>
          <a:solidFill>
            <a:srgbClr val="0CA30C"/>
          </a:solidFill>
          <a:ln w="12700">
            <a:solidFill>
              <a:srgbClr val="0CA30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589520" y="4572000"/>
            <a:ext cx="3886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Настоящая техподдержка (каз.)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7589520" y="4937760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«Телефонды қоймаңыз, желіні тексеремін» — правила: ложная тревога; у модели тревоги нет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548640" y="58978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Живой звонок: от конца фразы до тревоги 1,3 с на процессоре ноутбука   ·   Видео-демо: [ссылка]   ·   Код: github.com/daurenoralbek/qalqan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План внедрения: от прототипа к пилоту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Сейчас — TRL 4: прототип проверен на синтетике и реальных публичных записях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1143000" y="1783080"/>
            <a:ext cx="914400" cy="9144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43000" y="178308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TRL 4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2057400" y="2240280"/>
            <a:ext cx="1325880" cy="0"/>
          </a:xfrm>
          <a:prstGeom prst="line">
            <a:avLst/>
          </a:prstGeom>
          <a:noFill/>
          <a:ln w="25400">
            <a:solidFill>
              <a:srgbClr val="E3E6E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8346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Сейчас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3291840"/>
            <a:ext cx="2103120" cy="2148840"/>
          </a:xfrm>
          <a:prstGeom prst="roundRect">
            <a:avLst>
              <a:gd name="adj" fmla="val 3478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3429000"/>
            <a:ext cx="18288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Прототип, корпус, внешний тест, федеративный эксперимент, демо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383280" y="1783080"/>
            <a:ext cx="914400" cy="91440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383280" y="178308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TRL 5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297680" y="2240280"/>
            <a:ext cx="1325880" cy="0"/>
          </a:xfrm>
          <a:prstGeom prst="line">
            <a:avLst/>
          </a:prstGeom>
          <a:noFill/>
          <a:ln w="25400">
            <a:solidFill>
              <a:srgbClr val="E3E6E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788920" y="28346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 2026 – Q1 2027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2788920" y="3291840"/>
            <a:ext cx="2103120" cy="2148840"/>
          </a:xfrm>
          <a:prstGeom prst="roundRect">
            <a:avLst>
              <a:gd name="adj" fmla="val 3478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926080" y="3429000"/>
            <a:ext cx="18288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Пилот с банком: обезличенные звонки колл-центра, калибровка порога, вычитка казахского носителями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623560" y="1783080"/>
            <a:ext cx="914400" cy="91440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623560" y="178308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TRL 6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537960" y="2240280"/>
            <a:ext cx="1325880" cy="0"/>
          </a:xfrm>
          <a:prstGeom prst="line">
            <a:avLst/>
          </a:prstGeom>
          <a:noFill/>
          <a:ln w="25400">
            <a:solidFill>
              <a:srgbClr val="E3E6E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029200" y="28346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2027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029200" y="3291840"/>
            <a:ext cx="2103120" cy="2148840"/>
          </a:xfrm>
          <a:prstGeom prst="roundRect">
            <a:avLst>
              <a:gd name="adj" fmla="val 3478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166360" y="3429000"/>
            <a:ext cx="18288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Потоковый ASR kk/ru (модели ISSAI), API для антифрода банка или оператора, задержка &lt; 1 с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7863840" y="1783080"/>
            <a:ext cx="914400" cy="91440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863840" y="178308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TRL 7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8778240" y="2240280"/>
            <a:ext cx="1325880" cy="0"/>
          </a:xfrm>
          <a:prstGeom prst="line">
            <a:avLst/>
          </a:prstGeom>
          <a:noFill/>
          <a:ln w="25400">
            <a:solidFill>
              <a:srgbClr val="E3E6EC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269480" y="28346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H2 2027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7269480" y="3291840"/>
            <a:ext cx="2103120" cy="2148840"/>
          </a:xfrm>
          <a:prstGeom prst="roundRect">
            <a:avLst>
              <a:gd name="adj" fmla="val 3478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406640" y="3429000"/>
            <a:ext cx="18288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Пилот с клиентами: приложение банка или сеть оператора, с согласия клиента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10104120" y="1783080"/>
            <a:ext cx="914400" cy="914400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0104120" y="178308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Сеть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9509760" y="28346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2028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9509760" y="3291840"/>
            <a:ext cx="2103120" cy="2148840"/>
          </a:xfrm>
          <a:prstGeom prst="roundRect">
            <a:avLst>
              <a:gd name="adj" fmla="val 3478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9646920" y="3429000"/>
            <a:ext cx="18288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Федерация банков через АБРК / Антифрод-центр НБ РК: общая модель без обмена записями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548640" y="57150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Точки интеграции: антифрод банка (входящие на номера клиентов по согласию) · оператор связи · мобильное приложение банка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Риски и как мы их снимаем</a:t>
            </a:r>
            <a:endParaRPr lang="en-US" sz="3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7223760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Риск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делаем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Синтетика ≠ живая речь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Внешний тест на реальных звонках; пилот на обезличенных звонках банка; расширение фразобанка с носителями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Порог не переносится на реальные звонки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Калибровка порога на данных каждого банка — часть федеративного протокола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Ошибки ASR на казахском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Модели ISSAI; обучение на тексте с ошибками распознавания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Приватность и закон о персональных данных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Анализ на стороне банка или устройства, обмен только весами, согласие клиента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Мошенники меняют сценарии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Федеративное дообучение на новых случаях; таксономия обновляется по сводкам ведомств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Клонированный голос по тексту почти не отличить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Акустический модуль (следующий этап): текст ограничен сверху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Ресурсы, команда и что нужно для пилота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3520440" cy="4160520"/>
          </a:xfrm>
          <a:prstGeom prst="roundRect">
            <a:avLst>
              <a:gd name="adj" fmla="val 2078"/>
            </a:avLst>
          </a:prstGeom>
          <a:solidFill>
            <a:srgbClr val="1F3157"/>
          </a:solidFill>
          <a:ln w="12700">
            <a:solidFill>
              <a:srgbClr val="1F315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1508760"/>
            <a:ext cx="685800" cy="685800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832" y="1673352"/>
            <a:ext cx="356616" cy="35661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00200" y="16459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Прототип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377440"/>
            <a:ext cx="31089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DC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Вычисления: 0 ₸ — Kaggle T4, ~2 GPU-часа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DC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Открытые модели: XLM-R, NLLB, Whisper, ISSAI KazLLM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DC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Код и корпус — открытые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4297680" y="1325880"/>
            <a:ext cx="3520440" cy="4160520"/>
          </a:xfrm>
          <a:prstGeom prst="roundRect">
            <a:avLst>
              <a:gd name="adj" fmla="val 2078"/>
            </a:avLst>
          </a:prstGeom>
          <a:solidFill>
            <a:srgbClr val="1F3157"/>
          </a:solidFill>
          <a:ln w="12700">
            <a:solidFill>
              <a:srgbClr val="1F3157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526280" y="1508760"/>
            <a:ext cx="685800" cy="685800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0872" y="1673352"/>
            <a:ext cx="356616" cy="35661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349240" y="16459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Пилот (оценка)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4526280" y="2377440"/>
            <a:ext cx="31089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DC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GPU-сервер (T4/L4) для ASR и модели — порядка $400–600 в месяц в облаке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DC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Вычитка казахского фразобанка носителем — ~40 часов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DC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Интеграция с антифродом банка — силами банка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8046720" y="1325880"/>
            <a:ext cx="3520440" cy="4160520"/>
          </a:xfrm>
          <a:prstGeom prst="roundRect">
            <a:avLst>
              <a:gd name="adj" fmla="val 2078"/>
            </a:avLst>
          </a:prstGeom>
          <a:solidFill>
            <a:srgbClr val="1F3157"/>
          </a:solidFill>
          <a:ln w="12700">
            <a:solidFill>
              <a:srgbClr val="1F3157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8275320" y="1508760"/>
            <a:ext cx="685800" cy="685800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9912" y="1673352"/>
            <a:ext cx="356616" cy="35661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098280" y="16459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Команда и запрос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8275320" y="2377440"/>
            <a:ext cx="31089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DC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[ФИО] — ML, данные, разработка (SDU University)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DC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Нужны: банк-партнёр с обезличенными звонками, эксперт антифрода, наставник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DC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Партнёр конкурса ISSAI — казахский ASR и LLM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548640" y="57150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2B7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Қалқан — предупреждение, пока деньги ещё у клиента.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Қалқан — детектор мошеннических звонков</dc:title>
  <dc:subject>PptxGenJS Presentation</dc:subject>
  <dc:creator>[ФИО], SDU University</dc:creator>
  <cp:lastModifiedBy>[ФИО], SDU University</cp:lastModifiedBy>
  <cp:revision>1</cp:revision>
  <dcterms:created xsi:type="dcterms:W3CDTF">2026-09-23T15:53:03Z</dcterms:created>
  <dcterms:modified xsi:type="dcterms:W3CDTF">2026-09-23T15:53:03Z</dcterms:modified>
</cp:coreProperties>
</file>