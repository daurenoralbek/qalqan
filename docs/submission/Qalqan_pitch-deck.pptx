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Қалқан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Вишинг
(Корея → ru)</c:v>
                  </c:pt>
                  <c:pt idx="1">
                    <c:v>Скам против
звонков в банк</c:v>
                  </c:pt>
                  <c:pt idx="2">
                    <c:v>Скам против
той же темы</c:v>
                  </c:pt>
                  <c:pt idx="3">
                    <c:v>Перевод на
казахский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0.751</c:v>
                </c:pt>
                <c:pt idx="1">
                  <c:v>0.733</c:v>
                </c:pt>
                <c:pt idx="2">
                  <c:v>0.598</c:v>
                </c:pt>
                <c:pt idx="3">
                  <c:v>0.709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Правила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Вишинг
(Корея → ru)</c:v>
                  </c:pt>
                  <c:pt idx="1">
                    <c:v>Скам против
звонков в банк</c:v>
                  </c:pt>
                  <c:pt idx="2">
                    <c:v>Скам против
той же темы</c:v>
                  </c:pt>
                  <c:pt idx="3">
                    <c:v>Перевод на
казахский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0.505</c:v>
                </c:pt>
                <c:pt idx="1">
                  <c:v>0.505</c:v>
                </c:pt>
                <c:pt idx="2">
                  <c:v>0.505</c:v>
                </c:pt>
                <c:pt idx="3">
                  <c:v>0.512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3E6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4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solidFill>
                <a:srgbClr val="1F2937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Общая модель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Все данные
в одном месте</c:v>
                  </c:pt>
                  <c:pt idx="1">
                    <c:v>FedAvg
(обмен весами)</c:v>
                  </c:pt>
                  <c:pt idx="2">
                    <c:v>Банк 1
в одиночку</c:v>
                  </c:pt>
                  <c:pt idx="3">
                    <c:v>Банк 2
в одиночку</c:v>
                  </c:pt>
                  <c:pt idx="4">
                    <c:v>Банк 3
в одиночку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0.858</c:v>
                </c:pt>
                <c:pt idx="1">
                  <c:v>0.839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Банк в одиночку</c:v>
                </c:pt>
              </c:strCache>
            </c:strRef>
          </c:tx>
          <c:spPr>
            <a:solidFill>
              <a:srgbClr val="9AA3B2"/>
            </a:solidFill>
            <a:effectLst/>
          </c:spPr>
          <c:invertIfNegative val="0"/>
          <c:dLbls>
            <c:numFmt formatCode="0.0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Все данные
в одном месте</c:v>
                  </c:pt>
                  <c:pt idx="1">
                    <c:v>FedAvg
(обмен весами)</c:v>
                  </c:pt>
                  <c:pt idx="2">
                    <c:v>Банк 1
в одиночку</c:v>
                  </c:pt>
                  <c:pt idx="3">
                    <c:v>Банк 2
в одиночку</c:v>
                  </c:pt>
                  <c:pt idx="4">
                    <c:v>Банк 3
в одиночку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0.786</c:v>
                </c:pt>
                <c:pt idx="3">
                  <c:v>0.556</c:v>
                </c:pt>
                <c:pt idx="4">
                  <c:v>0.746</c:v>
                </c:pt>
              </c:numCache>
            </c:numRef>
          </c:val>
        </c:ser>
        <c:dLbls>
          <c:numFmt formatCode="0.00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3E6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4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Қалқан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0.45</c:v>
                </c:pt>
                <c:pt idx="1">
                  <c:v>0.453</c:v>
                </c:pt>
                <c:pt idx="2">
                  <c:v>0.446</c:v>
                </c:pt>
                <c:pt idx="3">
                  <c:v>0.994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Правила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0.93</c:v>
                </c:pt>
                <c:pt idx="7">
                  <c:v>0.837</c:v>
                </c:pt>
                <c:pt idx="8">
                  <c:v>0.9</c:v>
                </c:pt>
                <c:pt idx="9">
                  <c:v>0.9</c:v>
                </c:pt>
                <c:pt idx="10">
                  <c:v>0.81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Arial"/>
                  </a:rPr>
                  <a:t>реплика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4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3E6E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4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Проект «Қалқан» — по-казахски «щит». Это система, которая слушает телефонный разговор и предупреждает человека о мошенничестве во время звонка — до того, как он продиктует код из SMS или переведёт деньги.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данным Антифрод-центра Нацбанка — более 80 тысяч инцидентов, из них 22% — телефонное мошенничество. Действующий контур реактивный: он разбирает инцидент после того, как человек уже продиктовал код. А схемы меняются каждый месяц — в 2026 году появились SMS-бомбинг с «Антиспамом», фальшивые курьеры, «номер медицинской декларации», вербовка дропперов.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Любой мошеннический звонок — это сценарий: контакт, доверие, угроза, изоляция и давление, и только потом просьба назвать код. Правила на ключевых словах срабатывают на самой просьбе — это уже поздно. Мы поднимаем тревогу на стадии давления — в 91–94% случаев раньше, чем прозвучит просьба кода.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Речь переводится в текст. После каждой реплики модель XLM-RoBERTa с LoRA оценивает вероятность мошенничества по всему сказанному, накопитель сглаживает риск, и при превышении порога человек получает предупреждение с понятной причиной. Обучается только полпроцента параметров — это важно для федеративного обучения.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Реальные записи звонков клиентов публиковать нельзя, поэтому мы построили синтетический корпус по методике TeleAntiFraud: 22 сценария в 11 темах, каждая мошенническая схема — из официального предупреждения. Но синтетике нельзя верить на слово, поэтому модель проверена на реальных звонках — вишинге, записях скамеров и их переводе на казахский моделью KazLLM от ISSAI.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Важный момент честности. Первая модель показала на синтетике почти 0.98 — и провалилась на реальных звонках в банк: она выучила, что звонок про банк — это мошенничество. Мы нашли причину — тема и стиль приветствия выдавали класс — перестроили корпус и добавили автоматическую проверку. Теперь по приветствию класс не угадать, а на реальных звонках в банк качество выросло с 0.41 до 0.73.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реальных звонках модель, обученная только на синтетике, даёт AUC 0.71–0.75; правила — 0.5, то есть угадывание: живая речь не совпадает с их ключевыми словами. При одинаковой доле ложных тревог модель предупреждает до запроса кода в 91–94% случаев, правила — в 37–58%. Честно о слабом месте: легитимный звонок на ту же тему различается хуже — 0.60, и порог для реальных звонков нужно калибровать на данных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Банки не могут обмениваться записями разговоров. Мы смоделировали три банка, каждый из которых видел только часть схем. В одиночку банк плохо ловит схемы, которых у него не было — до 0.56. Федеративное усреднение весов LoRA даёт 0.84 — почти как если бы все данные были в одном месте, — а передаётся всего 6 мегабайт весов за раунд.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как это выглядит. Мошенник представляется техподдержкой. На четвёртой реплике — «вижу ваш договор, в приложении сбой» — модель уже поднимает тревогу. Правила молчат до седьмой реплики, когда человек уже ставит программу удалённого доступа. А на настоящей техподдержке на казахском правила дают ложную тревогу на фразе «не кладите трубку», а модель понимает контекст и остаётся на нуле.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Сейчас проект на уровне TRL 4. Следующий шаг — пилот с банком на обезличенных звонках колл-центра: там калибруется порог и вычитывается казахский. Затем интеграция с потоковым распознаванием речи от ISSAI и API для антифрода, пилот с клиентами — и сеть банков через Ассоциацию банков и Антифрод-центр.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Главные риски. Синтетика не равна живой речи — поэтому внешний тест и пилот. Порог не переносится — его калибрует каждый банк. Приватность — анализ на стороне банка, наружу уходят только веса. Мошенники меняют сценарии — федеративное дообучение. Клонированный голос по тексту почти не отличить — нужен акустический модуль.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Прототип сделан без затрат на вычисления — бесплатные GPU Kaggle и открытые модели. Для пилота нужен один GPU-сервер, вычитка казахского носителем и, главное, банк-партнёр с обезличенными звонками. Қалқан — это предупреждение, пока деньги ещё у клиента. Спасибо, готов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2.xm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34440"/>
            <a:ext cx="1143000" cy="1143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240280" y="10972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Қалқан</a:t>
            </a:r>
            <a:endParaRPr lang="en-US" sz="72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74320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Детектор мошеннических звонков, который предупреждает до того, как вы продиктуете код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886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F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Казахский · русский · смешанная речь   |   XLM-RoBERTa + LoRA   |   федеративное обучение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394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F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[ФИО], [курс, образовательная программа] · SDU University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F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 AI for Finance · Республиканский конкурс АБРК / КБТУ / NU,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Мошенник успевает раньше, чем антифрод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Антифрод-центр Национального Банка РК, данные на 01.01.2026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80 871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834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инцидент с признаками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мошенничества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063240" y="16916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91840" y="1874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2834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телефонное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мошенничество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577840" y="16916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06440" y="1874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5806440" y="2834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фейковые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02336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Заблокировано 2,8 млрд ₸, возвращено пострадавшим &gt; 500 млн ₸ — но это работа после инцидента.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75320" y="1691640"/>
            <a:ext cx="3337560" cy="4206240"/>
          </a:xfrm>
          <a:prstGeom prst="roundRect">
            <a:avLst>
              <a:gd name="adj" fmla="val 2192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03920" y="1874520"/>
            <a:ext cx="640080" cy="640080"/>
          </a:xfrm>
          <a:prstGeom prst="ellipse">
            <a:avLst/>
          </a:prstGeom>
          <a:solidFill>
            <a:srgbClr val="D03B3B"/>
          </a:solidFill>
          <a:ln w="12700">
            <a:solidFill>
              <a:srgbClr val="D03B3B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7539" y="2028139"/>
            <a:ext cx="332842" cy="332842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928116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Контур реактивный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2697480"/>
            <a:ext cx="2926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Инцидент разбирают, когда код уже продиктован, а деньги — на «безопасном счёте».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Схемы 2026 года: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SMS-бомбинг + «Антиспам»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«курьер» просит код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«номер медицинской декларации»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вербовка дропперов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клонирование голоса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484632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на ключевых словах не успевают за новыми сценариями — формулировки меняются каждый месяц.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Антифрод-центр НБ РК; предупреждения Генпрокуратуры, МВД, Минздрава, АФМ РК, полиции (2026).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Идея: предупредить во время звонка — на стадии давления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Мошеннический звонок развивается по сценарию. Решение принимается ДО запроса целевого действия.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1481328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944368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273552"/>
            <a:ext cx="1207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Контакт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139696" y="2834640"/>
            <a:ext cx="1481328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76856" y="2944368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276856" y="3273552"/>
            <a:ext cx="1207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Доверие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730752" y="2834640"/>
            <a:ext cx="1481328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67912" y="2944368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867912" y="3273552"/>
            <a:ext cx="1207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Угроза или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приманка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321808" y="2834640"/>
            <a:ext cx="1481328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58968" y="2944368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58968" y="3273552"/>
            <a:ext cx="1207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Изоляция и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давление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912864" y="2834640"/>
            <a:ext cx="1481328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50024" y="2944368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050024" y="3273552"/>
            <a:ext cx="1207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«Следователь»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503920" y="2834640"/>
            <a:ext cx="1481328" cy="1234440"/>
          </a:xfrm>
          <a:prstGeom prst="roundRect">
            <a:avLst>
              <a:gd name="adj" fmla="val 5926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41080" y="2944368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41080" y="3273552"/>
            <a:ext cx="1207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/ перевод /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AnyDesk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094976" y="2834640"/>
            <a:ext cx="1481328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32136" y="2944368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232136" y="3273552"/>
            <a:ext cx="1207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Закрепление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85032" y="1874520"/>
            <a:ext cx="3054096" cy="731520"/>
          </a:xfrm>
          <a:prstGeom prst="roundRect">
            <a:avLst>
              <a:gd name="adj" fmla="val 1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22192" y="1947672"/>
            <a:ext cx="28712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Қалқан: тревога здесь — в 91–94% случаев до кода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458200" y="4343400"/>
            <a:ext cx="3054096" cy="731520"/>
          </a:xfrm>
          <a:prstGeom prst="roundRect">
            <a:avLst>
              <a:gd name="adj" fmla="val 10000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595360" y="4416552"/>
            <a:ext cx="28712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Правила: здесь — уже поздно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Антифрод-центр сегодня: после S6 — когда деньги ушли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Стадии — crime script по ScriptMind (arXiv:2601.13581); постановка инкрементальной детекции — arXiv:2609.20223.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работает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каждой реплики модель пересчитывает риск по всему разговору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057400" cy="2651760"/>
          </a:xfrm>
          <a:prstGeom prst="roundRect">
            <a:avLst>
              <a:gd name="adj" fmla="val 355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" y="1920240"/>
            <a:ext cx="822960" cy="822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370" y="2117750"/>
            <a:ext cx="427939" cy="42793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880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Звонок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3375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казахский, русский,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смешанная речь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615184" y="2926080"/>
            <a:ext cx="164592" cy="256032"/>
          </a:xfrm>
          <a:prstGeom prst="rightArrow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88920" y="1737360"/>
            <a:ext cx="2057400" cy="2651760"/>
          </a:xfrm>
          <a:prstGeom prst="roundRect">
            <a:avLst>
              <a:gd name="adj" fmla="val 355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06140" y="1920240"/>
            <a:ext cx="822960" cy="822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650" y="2117750"/>
            <a:ext cx="427939" cy="42793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926080" y="2880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ASR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926080" y="33375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речь → текст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(ISSAI / Whisper)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855464" y="2926080"/>
            <a:ext cx="164592" cy="256032"/>
          </a:xfrm>
          <a:prstGeom prst="rightArrow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029200" y="1737360"/>
            <a:ext cx="2057400" cy="2651760"/>
          </a:xfrm>
          <a:prstGeom prst="roundRect">
            <a:avLst>
              <a:gd name="adj" fmla="val 355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646420" y="1920240"/>
            <a:ext cx="822960" cy="822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3930" y="2117750"/>
            <a:ext cx="427939" cy="42793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166360" y="2880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XLM-R + LoRA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5166360" y="33375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вероятность мошенничества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всему сказанному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7095744" y="2926080"/>
            <a:ext cx="164592" cy="256032"/>
          </a:xfrm>
          <a:prstGeom prst="rightArrow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269480" y="1737360"/>
            <a:ext cx="2057400" cy="2651760"/>
          </a:xfrm>
          <a:prstGeom prst="roundRect">
            <a:avLst>
              <a:gd name="adj" fmla="val 355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886700" y="1920240"/>
            <a:ext cx="822960" cy="822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4210" y="2117750"/>
            <a:ext cx="427939" cy="427939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406640" y="2880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Накопитель риска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7406640" y="33375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сглаживание и порог,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подобранные на данных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9336024" y="2926080"/>
            <a:ext cx="164592" cy="256032"/>
          </a:xfrm>
          <a:prstGeom prst="rightArrow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9509760" y="1737360"/>
            <a:ext cx="2057400" cy="2651760"/>
          </a:xfrm>
          <a:prstGeom prst="roundRect">
            <a:avLst>
              <a:gd name="adj" fmla="val 355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10126980" y="1920240"/>
            <a:ext cx="822960" cy="822960"/>
          </a:xfrm>
          <a:prstGeom prst="ellipse">
            <a:avLst/>
          </a:prstGeom>
          <a:solidFill>
            <a:srgbClr val="D03B3B"/>
          </a:solidFill>
          <a:ln w="12700">
            <a:solidFill>
              <a:srgbClr val="D03B3B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24490" y="2117750"/>
            <a:ext cx="427939" cy="427939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646920" y="2880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Тревога + причина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9646920" y="33375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«требуют не класть трубку»,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«просят код из SMS»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48006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1,48 млн</a:t>
            </a:r>
            <a:endParaRPr lang="en-US" sz="2800" dirty="0"/>
          </a:p>
        </p:txBody>
      </p:sp>
      <p:sp>
        <p:nvSpPr>
          <p:cNvPr id="34" name="Text 27"/>
          <p:cNvSpPr txBox="1"/>
          <p:nvPr/>
        </p:nvSpPr>
        <p:spPr>
          <a:xfrm>
            <a:off x="548640" y="5349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обучаемых параметров из 280 млн (0,5%) — LoRA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4297680" y="48006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ролей</a:t>
            </a:r>
            <a:endParaRPr lang="en-US" sz="2800" dirty="0"/>
          </a:p>
        </p:txBody>
      </p:sp>
      <p:sp>
        <p:nvSpPr>
          <p:cNvPr id="36" name="Text 29"/>
          <p:cNvSpPr txBox="1"/>
          <p:nvPr/>
        </p:nvSpPr>
        <p:spPr>
          <a:xfrm>
            <a:off x="4297680" y="5349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нужно знать, кто говорит: работает на сыром ASR</a:t>
            </a:r>
            <a:endParaRPr lang="en-US" sz="1400" dirty="0"/>
          </a:p>
        </p:txBody>
      </p:sp>
      <p:sp>
        <p:nvSpPr>
          <p:cNvPr id="37" name="Text 30"/>
          <p:cNvSpPr txBox="1"/>
          <p:nvPr/>
        </p:nvSpPr>
        <p:spPr>
          <a:xfrm>
            <a:off x="8046720" y="48006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языка</a:t>
            </a:r>
            <a:endParaRPr lang="en-US" sz="2800" dirty="0"/>
          </a:p>
        </p:txBody>
      </p:sp>
      <p:sp>
        <p:nvSpPr>
          <p:cNvPr id="38" name="Text 31"/>
          <p:cNvSpPr txBox="1"/>
          <p:nvPr/>
        </p:nvSpPr>
        <p:spPr>
          <a:xfrm>
            <a:off x="8046720" y="5349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модель для kk, ru и смешанной речи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и проверка на реальных звонках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— на синтетике без персональных данных; оценка — на реальных публичных записях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сценария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33756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337560" y="2240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 звонков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~32 600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2240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реплик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915400" y="2240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персональных данных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2743200"/>
            <a:ext cx="5440680" cy="3246120"/>
          </a:xfrm>
          <a:prstGeom prst="roundRect">
            <a:avLst>
              <a:gd name="adj" fmla="val 225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26080"/>
            <a:ext cx="594360" cy="5943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3068726"/>
            <a:ext cx="309067" cy="309067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508760" y="3017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Синтетический корпус Қалқан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65760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мошеннических схем — каждая из публикации ведомства РК 2026: НБ РК, Генпрокуратура, МВД, ЕНПФ, Минздрав, АФМ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легитимных звонков на те же темы: настоящий банк, курьер, техподдержка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Разметка по стадиям и 23 красным флагам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Отложенный тест — на формулировках, которых модель не видела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72200" y="2743200"/>
            <a:ext cx="5440680" cy="3246120"/>
          </a:xfrm>
          <a:prstGeom prst="roundRect">
            <a:avLst>
              <a:gd name="adj" fmla="val 2254"/>
            </a:avLst>
          </a:prstGeom>
          <a:solidFill>
            <a:srgbClr val="E8F1FC"/>
          </a:solidFill>
          <a:ln w="12700">
            <a:solidFill>
              <a:srgbClr val="E8F1F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0" y="2926080"/>
            <a:ext cx="594360" cy="5943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446" y="3068726"/>
            <a:ext cx="309067" cy="309067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132320" y="3017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Внешний тест на реальных звонках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6400800" y="365760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реальных вишинг-звонков, опубликованных финрегулятором Кореи (FSS), против 200 обычных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 звонков скамеров против 211 звонков в банк (публичные записи)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Перевод на казахский — модель ISSAI KazLLM (партнёр конкурса)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записи звонков мошенников жителям Казахстана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Реальных казахоязычных записей мошеннических звонков в открытом доступе нет — это зафиксировано как ограничение.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Нашли и устранили ловушку синтетических данных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Первая версия корпуса: тема звонка выдавала ответ, и модель выучила «звонок про банк = мошенничество»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937760" cy="4206240"/>
          </a:xfrm>
          <a:prstGeom prst="roundRect">
            <a:avLst>
              <a:gd name="adj" fmla="val 1739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75120" y="1737360"/>
            <a:ext cx="4937760" cy="4206240"/>
          </a:xfrm>
          <a:prstGeom prst="roundRect">
            <a:avLst>
              <a:gd name="adj" fmla="val 1739"/>
            </a:avLst>
          </a:prstGeom>
          <a:solidFill>
            <a:srgbClr val="E8F1FC"/>
          </a:solidFill>
          <a:ln w="12700">
            <a:solidFill>
              <a:srgbClr val="E8F1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Корпус v1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949440" y="1874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Корпус v2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146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0.911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63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простой модели по одному приветствию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25146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0.501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3063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простой модели по одному приветствию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6118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100%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160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 по приветствию настоящего банка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6118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45% — «пока неясно»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4160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 по приветствию настоящего банка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7091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0.41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257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Реальные звонки: скам против звонков в банк, AUC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47091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5257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Реальные звонки: скам против звонков в банк, AUC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0" y="3566160"/>
            <a:ext cx="822960" cy="548640"/>
          </a:xfrm>
          <a:prstGeom prst="rightArrow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пар «мошенничество — легитимный звонок на ту же тему», общие приветствия, автопроверка в CI-скрипте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Результаты: работает на реальных звонках — правила нет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AUC на реальных звонках, среднее по 3 запускам (0.5 — случайное угадывание)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6949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600200"/>
            <a:ext cx="3794760" cy="2148840"/>
          </a:xfrm>
          <a:prstGeom prst="roundRect">
            <a:avLst>
              <a:gd name="adj" fmla="val 3404"/>
            </a:avLst>
          </a:prstGeom>
          <a:solidFill>
            <a:srgbClr val="E8F1FC"/>
          </a:solidFill>
          <a:ln w="12700">
            <a:solidFill>
              <a:srgbClr val="E8F1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46720" y="17373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91–94%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2606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тревог — ДО запроса кода или перевода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(правила: 37–58%) при одинаковой доле ложных тревог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818120" y="3931920"/>
            <a:ext cx="3794760" cy="2148840"/>
          </a:xfrm>
          <a:prstGeom prst="roundRect">
            <a:avLst>
              <a:gd name="adj" fmla="val 340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46720" y="40690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из 4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49377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реальных звонков мошенников жителям Казахстана распознали правила: живая речь не совпадает с их ключевыми словами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Самый трудный набор — легитимный звонок на ту же тему (0.60): главное направление доработки. Порог нужно калибровать на данных банка.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Банки обучают модель вместе, не передавая разговоры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Эксперимент: 3 банка, каждый видел только часть мошеннических схем. Метрика — ROC AUC на валидации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965960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13055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201168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Банк 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33172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звонки — у себя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743200" y="2167128"/>
            <a:ext cx="685800" cy="274320"/>
          </a:xfrm>
          <a:prstGeom prst="rightArrow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310896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" y="3291840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345643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63040" y="33375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Банк 2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463040" y="365760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звонки — у себя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2743200" y="3493008"/>
            <a:ext cx="685800" cy="274320"/>
          </a:xfrm>
          <a:prstGeom prst="rightArrow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48640" y="443484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85800" y="4617720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4782312"/>
            <a:ext cx="356616" cy="35661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466344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Банк 3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1463040" y="498348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звонки — у себя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2743200" y="4818888"/>
            <a:ext cx="685800" cy="274320"/>
          </a:xfrm>
          <a:prstGeom prst="rightArrow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566160" y="2468880"/>
            <a:ext cx="1737360" cy="2148840"/>
          </a:xfrm>
          <a:prstGeom prst="roundRect">
            <a:avLst>
              <a:gd name="adj" fmla="val 4211"/>
            </a:avLst>
          </a:prstGeom>
          <a:solidFill>
            <a:srgbClr val="E8F1FC"/>
          </a:solidFill>
          <a:ln w="12700">
            <a:solidFill>
              <a:srgbClr val="E8F1FC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069080" y="2651760"/>
            <a:ext cx="731520" cy="7315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4645" y="2827325"/>
            <a:ext cx="380390" cy="38039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3657600" y="35204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Усреднение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весов LoRA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3657600" y="41605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5,9 МБ за раунд</a:t>
            </a:r>
            <a:endParaRPr lang="en-US" sz="12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5669280" y="1600200"/>
          <a:ext cx="594360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8" name="Text 21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Банк, который не встречал схему, её не ловит (до 0.56). Обмен весами почти догоняет общий датасет — без передачи записей.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Демо: риск растёт по ходу разговора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Реплики из отложенного набора — модель их не видела. Streamlit-прототип, видео до 5 минут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783080"/>
          <a:ext cx="61264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15087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Мошенник-«техподдержка» (рус.)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949440" y="1783080"/>
            <a:ext cx="4663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0" y="1984248"/>
            <a:ext cx="274320" cy="2743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89520" y="19202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Реплика 4 — тревога модели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228600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«Вижу ваш договор… В приложении банка обнаружен сбой» — за 3 реплики до просьбы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49440" y="3108960"/>
            <a:ext cx="4663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32320" y="3310128"/>
            <a:ext cx="274320" cy="27432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589520" y="324612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Реплика 7 — правила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589520" y="3611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«Установите QuickSupport» — программа уже устанавливается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949440" y="4434840"/>
            <a:ext cx="4663440" cy="1143000"/>
          </a:xfrm>
          <a:prstGeom prst="roundRect">
            <a:avLst>
              <a:gd name="adj" fmla="val 64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132320" y="4636008"/>
            <a:ext cx="274320" cy="274320"/>
          </a:xfrm>
          <a:prstGeom prst="ellipse">
            <a:avLst/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89520" y="45720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Настоящая техподдержка (каз.)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589520" y="493776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«Телефонды қоймаңыз, желіні тексеремін» — правила: ложная тревога; модель: 0%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Видео-демо: [ссылка]   ·   Код: github.com/daurenoralbek/qalqan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 внедрения: от прототипа к пилоту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— TRL 4: прототип проверен на синтетике и реальных публичных записях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143000" y="1783080"/>
            <a:ext cx="914400" cy="9144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4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057400" y="2240280"/>
            <a:ext cx="1325880" cy="0"/>
          </a:xfrm>
          <a:prstGeom prst="line">
            <a:avLst/>
          </a:prstGeom>
          <a:noFill/>
          <a:ln w="25400">
            <a:solidFill>
              <a:srgbClr val="E3E6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34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429000"/>
            <a:ext cx="1828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Прототип, корпус, внешний тест, федеративный эксперимент, демо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83280" y="1783080"/>
            <a:ext cx="914400" cy="9144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8328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5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297680" y="2240280"/>
            <a:ext cx="1325880" cy="0"/>
          </a:xfrm>
          <a:prstGeom prst="line">
            <a:avLst/>
          </a:prstGeom>
          <a:noFill/>
          <a:ln w="25400">
            <a:solidFill>
              <a:srgbClr val="E3E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88920" y="2834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 – Q1 2027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88920" y="329184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26080" y="3429000"/>
            <a:ext cx="1828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с банком: обезличенные звонки колл-центра, калибровка порога, вычитка казахского носителями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23560" y="1783080"/>
            <a:ext cx="914400" cy="9144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2356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6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37960" y="2240280"/>
            <a:ext cx="1325880" cy="0"/>
          </a:xfrm>
          <a:prstGeom prst="line">
            <a:avLst/>
          </a:prstGeom>
          <a:noFill/>
          <a:ln w="25400">
            <a:solidFill>
              <a:srgbClr val="E3E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29200" y="2834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2027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0" y="329184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66360" y="3429000"/>
            <a:ext cx="1828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Потоковый ASR kk/ru (модели ISSAI), API для антифрода банка или оператора, задержка &lt; 1 с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863840" y="1783080"/>
            <a:ext cx="914400" cy="9144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6384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7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778240" y="2240280"/>
            <a:ext cx="1325880" cy="0"/>
          </a:xfrm>
          <a:prstGeom prst="line">
            <a:avLst/>
          </a:prstGeom>
          <a:noFill/>
          <a:ln w="25400">
            <a:solidFill>
              <a:srgbClr val="E3E6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269480" y="2834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2027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269480" y="329184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06640" y="3429000"/>
            <a:ext cx="1828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с клиентами: приложение банка или сеть оператора, с согласия клиента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0104120" y="1783080"/>
            <a:ext cx="914400" cy="9144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10412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Сеть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0" y="2834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509760" y="329184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646920" y="3429000"/>
            <a:ext cx="1828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Федерация банков через АБРК / Антифрод-центр НБ РК: общая модель без обмена записями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Точки интеграции: антифрод банка (входящие на номера клиентов по согласию) · оператор связи · мобильное приложение банка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 и как мы их снимаем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2237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делаем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Синтетика ≠ живая речь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Внешний тест на реальных звонках; пилот на обезличенных звонках банка; расширение фразобанка с носителями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не переносится на реальные звонки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Калибровка порога на данных каждого банка — часть федеративного протокола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Ошибки ASR на казахском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Модели ISSAI; обучение на тексте с ошибками распознавания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Приватность и закон о персональных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Анализ на стороне банка или устройства, обмен только весами, согласие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Мошенники меняют сценарии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Федеративное дообучение на новых случаях; таксономия обновляется по сводкам ведомств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Клонированный голос по тексту почти не отличить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Акустический модуль (следующий этап): текст ограничен сверху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Ресурсы, команда и что нужно для пилота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520440" cy="4160520"/>
          </a:xfrm>
          <a:prstGeom prst="roundRect">
            <a:avLst>
              <a:gd name="adj" fmla="val 2078"/>
            </a:avLst>
          </a:prstGeom>
          <a:solidFill>
            <a:srgbClr val="1F3157"/>
          </a:solidFill>
          <a:ln w="12700">
            <a:solidFill>
              <a:srgbClr val="1F31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08760"/>
            <a:ext cx="685800" cy="6858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67335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45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Прототип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77440"/>
            <a:ext cx="3108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Вычисления: 0 ₸ — Kaggle T4, ~2 GPU-часа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Открытые модели: XLM-R, NLLB, Whisper, ISSAI KazLLM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и корпус — открытые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97680" y="1325880"/>
            <a:ext cx="3520440" cy="4160520"/>
          </a:xfrm>
          <a:prstGeom prst="roundRect">
            <a:avLst>
              <a:gd name="adj" fmla="val 2078"/>
            </a:avLst>
          </a:prstGeom>
          <a:solidFill>
            <a:srgbClr val="1F3157"/>
          </a:solidFill>
          <a:ln w="12700">
            <a:solidFill>
              <a:srgbClr val="1F315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26280" y="1508760"/>
            <a:ext cx="685800" cy="6858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0872" y="167335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9240" y="1645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(оценка)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2377440"/>
            <a:ext cx="3108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GPU-сервер (T4/L4) для ASR и модели — порядка $400–600 в месяц в облаке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Вычитка казахского фразобанка носителем — ~40 часов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с антифродом банка — силами банка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046720" y="1325880"/>
            <a:ext cx="3520440" cy="4160520"/>
          </a:xfrm>
          <a:prstGeom prst="roundRect">
            <a:avLst>
              <a:gd name="adj" fmla="val 2078"/>
            </a:avLst>
          </a:prstGeom>
          <a:solidFill>
            <a:srgbClr val="1F3157"/>
          </a:solidFill>
          <a:ln w="12700">
            <a:solidFill>
              <a:srgbClr val="1F315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75320" y="1508760"/>
            <a:ext cx="685800" cy="6858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1673352"/>
            <a:ext cx="356616" cy="35661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98280" y="1645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и запрос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2377440"/>
            <a:ext cx="3108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[ФИО] — ML, данные, разработка (SDU University)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Нужны: банк-партнёр с обезличенными звонками, эксперт антифрода, наставник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Партнёр конкурса ISSAI — казахский ASR и LLM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Қалқан — предупреждение, пока деньги ещё у клиента.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Қалқан — детектор мошеннических звонков</dc:title>
  <dc:subject>PptxGenJS Presentation</dc:subject>
  <dc:creator>[ФИО], SDU University</dc:creator>
  <cp:lastModifiedBy>[ФИО], SDU University</cp:lastModifiedBy>
  <cp:revision>1</cp:revision>
  <dcterms:created xsi:type="dcterms:W3CDTF">2026-09-21T23:43:38Z</dcterms:created>
  <dcterms:modified xsi:type="dcterms:W3CDTF">2026-09-21T23:43:38Z</dcterms:modified>
</cp:coreProperties>
</file>