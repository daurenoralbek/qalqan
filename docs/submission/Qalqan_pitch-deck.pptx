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Қалқан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Вишинг
(Корея → ru)</c:v>
                  </c:pt>
                  <c:pt idx="1">
                    <c:v>Скам против
звонков в банк</c:v>
                  </c:pt>
                  <c:pt idx="2">
                    <c:v>Скам против
той же темы</c:v>
                  </c:pt>
                  <c:pt idx="3">
                    <c:v>Перевод на
казахский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0.799</c:v>
                </c:pt>
                <c:pt idx="1">
                  <c:v>0.91</c:v>
                </c:pt>
                <c:pt idx="2">
                  <c:v>0.67</c:v>
                </c:pt>
                <c:pt idx="3">
                  <c:v>0.789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Правила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Вишинг
(Корея → ru)</c:v>
                  </c:pt>
                  <c:pt idx="1">
                    <c:v>Скам против
звонков в банк</c:v>
                  </c:pt>
                  <c:pt idx="2">
                    <c:v>Скам против
той же темы</c:v>
                  </c:pt>
                  <c:pt idx="3">
                    <c:v>Перевод на
казахский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0.505</c:v>
                </c:pt>
                <c:pt idx="1">
                  <c:v>0.505</c:v>
                </c:pt>
                <c:pt idx="2">
                  <c:v>0.505</c:v>
                </c:pt>
                <c:pt idx="3">
                  <c:v>0.512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6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Общая модель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Все данные
в одном месте</c:v>
                  </c:pt>
                  <c:pt idx="1">
                    <c:v>FedAvg
(обмен весами)</c:v>
                  </c:pt>
                  <c:pt idx="2">
                    <c:v>Банк 1
в одиночку</c:v>
                  </c:pt>
                  <c:pt idx="3">
                    <c:v>Банк 2
в одиночку</c:v>
                  </c:pt>
                  <c:pt idx="4">
                    <c:v>Банк 3
в одиночку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0.824</c:v>
                </c:pt>
                <c:pt idx="1">
                  <c:v>0.756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Банк в одиночку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.0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Все данные
в одном месте</c:v>
                  </c:pt>
                  <c:pt idx="1">
                    <c:v>FedAvg
(обмен весами)</c:v>
                  </c:pt>
                  <c:pt idx="2">
                    <c:v>Банк 1
в одиночку</c:v>
                  </c:pt>
                  <c:pt idx="3">
                    <c:v>Банк 2
в одиночку</c:v>
                  </c:pt>
                  <c:pt idx="4">
                    <c:v>Банк 3
в одиночку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0.592</c:v>
                </c:pt>
                <c:pt idx="3">
                  <c:v>0.647</c:v>
                </c:pt>
                <c:pt idx="4">
                  <c:v>0.706</c:v>
                </c:pt>
              </c:numCache>
            </c:numRef>
          </c:val>
        </c:ser>
        <c:dLbls>
          <c:numFmt formatCode="0.00;;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6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Қалқан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0.48</c:v>
                </c:pt>
                <c:pt idx="1">
                  <c:v>0.472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0.999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Правила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0.55</c:v>
                </c:pt>
                <c:pt idx="4">
                  <c:v>0.495</c:v>
                </c:pt>
                <c:pt idx="5">
                  <c:v>0.446</c:v>
                </c:pt>
                <c:pt idx="6">
                  <c:v>0.401</c:v>
                </c:pt>
                <c:pt idx="7">
                  <c:v>0.85</c:v>
                </c:pt>
                <c:pt idx="8">
                  <c:v>0.765</c:v>
                </c:pt>
                <c:pt idx="9">
                  <c:v>0.689</c:v>
                </c:pt>
                <c:pt idx="10">
                  <c:v>0.62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реплика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6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Проект «Қалқан» — по-казахски «щит». Это система, которая слушает телефонный разговор и предупреждает человека о мошенничестве во время звонка — до того, как он продиктует код из SMS или переведёт деньги.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данным Антифрод-центра Нацбанка — более 80 тысяч инцидентов, из них 22% — телефонное мошенничество. Действующий контур реактивный: он разбирает инцидент после того, как человек уже продиктовал код. А схемы меняются каждый месяц — в 2026 году появились SMS-бомбинг с «Антиспамом», фальшивые курьеры, «номер медицинской декларации», вербовка дропперов.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Любой мошеннический звонок — это сценарий: контакт, доверие, угроза, изоляция и давление, и только потом просьба назвать код. Правила на ключевых словах срабатывают на самой просьбе — это уже поздно. Мы поднимаем тревогу на стадии давления — в 85% случаев раньше, чем прозвучит просьба кода.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Речь переводится в текст. После каждой реплики модель XLM-RoBERTa с LoRA оценивает вероятность мошенничества по всему сказанному, накопитель сглаживает риск, и при превышении порога человек получает предупреждение с понятной причиной. Обучается только полпроцента параметров — это важно для федеративного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Реальные записи звонков клиентов публиковать нельзя, поэтому мы построили синтетический корпус по методике TeleAntiFraud: 22 сценария в 11 темах, каждая мошенническая схема — из официального предупреждения. Но синтетике нельзя верить на слово, поэтому модель проверена на реальных звонках — вишинге, записях скамеров и их переводе на казахский моделью KazLLM от ISSAI.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про честность метода. Первая модель показала на синтетике почти 0.98 — и провалилась на реальных звонках в банк: она выучила, что звонок про банк — это мошенничество. Дальше нашлись ещё две лазейки: тест собирался из тех же формулировок, что обучение, и вежливость — слова «официальный» и «спасибо» звучали только у настоящих сотрудников. Каждый раз мы перестраивали корпус и добавляли автоматическую проверку. После последней починки метрика на нашем корпусе даже упала — 0.85 против 0.81, — а на реальных звонках выросла. Это и есть проверка на честность: метрика на своих же данных плохой судья.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реальных звонках модель, обученная только на синтетике, даёт AUC от 0.67 до 0.91; правила — 0.5, то есть угадывание: живая речь не совпадает с их ключевыми словами. На отложенном тесте модель предупреждает до запроса кода в 85% случаев против 36% у правил, причём ложных тревог у неё вчетверо меньше. Если выставить модели тот же recall, что у правил, она ошибается на легитимных звонках в сотни раз реже: 0.1% против 43%. Честно о слабом месте: легитимный звонок на ту же тему различается хуже — 0.67, и порог для реальных звонков нужно калибровать на данных банка.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Банки не могут обмениваться записями разговоров. Мы смоделировали три банка, каждый из которых видел только часть схем. В одиночку банк плохо ловит схемы, которых у него не было — 0.59 при 0.82 у общей модели. Федеративное усреднение весов LoRA даёт 0.76 — две трети разрыва закрыты, — а передаётся всего 6 мегабайт весов за раунд. Если же банки видели одни и те же схемы, выигрыш почти исчезает: польза именно в разном опыте.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как это выглядит. Мошенник представляется техподдержкой и предлагает вернуть деньги за двойное списание. На третьей реплике модель уже поднимает тревогу — за три реплики до того, как человека заводят в мобильный банк. Правила молчат до восьмой. А на настоящей техподдержке на казахском правила дают ложную тревогу на фразе «не кладите трубку», а модель понимает контекст и остаётся спокойной. В демо есть и живой режим: телефон на громкой связи, ноутбук слушает, распознаёт речь и пересчитывает риск — от конца фразы до тревоги около трёх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проект на уровне TRL 4. Следующий шаг — пилот с банком на обезличенных звонках колл-центра: там калибруется порог и вычитывается казахский. Затем интеграция с потоковым распознаванием речи от ISSAI и API для антифрода, пилот с клиентами — и сеть банков через Ассоциацию банков и Антифрод-центр.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Главные риски. Синтетика не равна живой речи — поэтому внешний тест и пилот. Порог не переносится — его калибрует каждый банк. Приватность — анализ на стороне банка, наружу уходят только веса. Мошенники меняют сценарии — федеративное дообучение. Клонированный голос по тексту почти не отличить — нужен акустический модуль.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 сделан без затрат на вычисления — бесплатные GPU Kaggle и открытые модели. Для пилота нужен один GPU-сервер, вычитка казахского носителем и, главное, банк-партнёр с обезличенными звонками. Қалқан — это предупреждение, пока деньги ещё у клиента. Спасибо,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4028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Қалқан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мошеннических звонков, который предупреждает до того, как вы продиктуете код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Казахский · русский · смешанная речь   |   XLM-RoBERTa + LoRA   |   федеративное обучение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[ФИО], [курс, образовательная программа] · SDU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 AI for Finance · Республиканский конкурс АБРК / КБТУ / NU,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Мошенник успевает раньше, чем антифрод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Антифрод-центр Национального Банка РК, данные на 01.01.2026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80 871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 с признаками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мошенничества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169164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834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телефонное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мошенничество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77840" y="169164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834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фейковые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Заблокировано 2,8 млрд ₸, возвращено пострадавшим &gt; 500 млн ₸ — но это работа после инцидента.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539" y="2028139"/>
            <a:ext cx="332842" cy="33284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2811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 реактивный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2697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 разбирают, когда код уже продиктован, а деньги — на «безопасном счёте».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 2026 года: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SMS-бомбинг + «Антиспам»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«курьер» просит код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«номер медицинской декларации»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вербовка дропперов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клонирование голоса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84632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на ключевых словах не успевают за новыми сценариями — формулировки меняются каждый месяц.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Антифрод-центр НБ РК; предупреждения Генпрокуратуры, МВД, Минздрава, АФМ РК, полиции (2026).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предупредить во время звонка — на стадии давления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Мошеннический звонок развивается по сценарию. Решение принимается ДО запроса целевого действия.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481328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94436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73552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39696" y="2834640"/>
            <a:ext cx="1481328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76856" y="294436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76856" y="3273552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30752" y="2834640"/>
            <a:ext cx="1481328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67912" y="294436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3273552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Угроза или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приманка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21808" y="2834640"/>
            <a:ext cx="1481328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58968" y="294436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58968" y="3273552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давление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2864" y="2834640"/>
            <a:ext cx="1481328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0024" y="294436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50024" y="3273552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«Следователь»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2834640"/>
            <a:ext cx="1481328" cy="1234440"/>
          </a:xfrm>
          <a:prstGeom prst="roundRect">
            <a:avLst>
              <a:gd name="adj" fmla="val 5926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294436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3273552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/ перевод 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94976" y="2834640"/>
            <a:ext cx="1481328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32136" y="294436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232136" y="3273552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Закрепление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85032" y="1874520"/>
            <a:ext cx="3054096" cy="73152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22192" y="1947672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Қалқан: тревога здесь — в 85% случаев до кода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58200" y="4343400"/>
            <a:ext cx="3054096" cy="73152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95360" y="4416552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Правила: здесь — уже поздно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Антифрод-центр сегодня: после S6 — когда деньги ушли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Стадии — crime script по ScriptMind (arXiv:2601.13581); постановка инкрементальной детекции — arXiv:2609.20223.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каждой реплики модель пересчитывает риск по всему разговору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" y="192024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37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Звонок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337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казахский, русский,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смешанная речь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15184" y="2926080"/>
            <a:ext cx="164592" cy="256032"/>
          </a:xfrm>
          <a:prstGeom prst="rightArrow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88920" y="173736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6140" y="192024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50" y="211775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2608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26080" y="3337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речь → текст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(ISSAI / Whisper)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55464" y="2926080"/>
            <a:ext cx="164592" cy="256032"/>
          </a:xfrm>
          <a:prstGeom prst="rightArrow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0" y="173736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46420" y="192024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30" y="211775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6636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 + LoRA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166360" y="3337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мошенничества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всему сказанному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095744" y="2926080"/>
            <a:ext cx="164592" cy="256032"/>
          </a:xfrm>
          <a:prstGeom prst="rightArrow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269480" y="173736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886700" y="192024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210" y="211775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0664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Накопитель риска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406640" y="3337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сглаживание и порог,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подобранные на данных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336024" y="2926080"/>
            <a:ext cx="164592" cy="256032"/>
          </a:xfrm>
          <a:prstGeom prst="rightArrow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509760" y="173736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126980" y="1920240"/>
            <a:ext cx="822960" cy="82296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4490" y="2117750"/>
            <a:ext cx="427939" cy="42793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4692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Тревога + причина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646920" y="3337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«требуют не класть трубку»,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«просят код из SMS»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4800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 млн</a:t>
            </a:r>
            <a:endParaRPr lang="en-US" sz="28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5349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обучаемых параметров из 280 млн (0,5%) — LoRA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4297680" y="4800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ролей</a:t>
            </a:r>
            <a:endParaRPr lang="en-US" sz="2800" dirty="0"/>
          </a:p>
        </p:txBody>
      </p:sp>
      <p:sp>
        <p:nvSpPr>
          <p:cNvPr id="36" name="Text 29"/>
          <p:cNvSpPr txBox="1"/>
          <p:nvPr/>
        </p:nvSpPr>
        <p:spPr>
          <a:xfrm>
            <a:off x="4297680" y="5349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знать, кто говорит: работает на сыром ASR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8046720" y="4800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языка</a:t>
            </a:r>
            <a:endParaRPr lang="en-US" sz="2800" dirty="0"/>
          </a:p>
        </p:txBody>
      </p:sp>
      <p:sp>
        <p:nvSpPr>
          <p:cNvPr id="38" name="Text 31"/>
          <p:cNvSpPr txBox="1"/>
          <p:nvPr/>
        </p:nvSpPr>
        <p:spPr>
          <a:xfrm>
            <a:off x="8046720" y="5349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модель для kk, ru и смешанной речи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проверка на реальных звонках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— на синтетике без персональных данных; оценка — на реальных публичных записях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 звонков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44 580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персональных данных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2608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3068726"/>
            <a:ext cx="309067" cy="30906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0876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Синтетический корпус Қалқан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мошеннических схем — каждая из публикации ведомства РК 2026: НБ РК, Генпрокуратура, МВД, ЕНПФ, Минздрав, АФМ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легитимных звонков на те же темы: настоящий банк, курьер, техподдержка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Разметка по стадиям и 23 красным флагам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2 501 формулировка; отложенный тест — 0% реплик звонящего из обучающих шаблонов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27432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2926080"/>
            <a:ext cx="594360" cy="5943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3068726"/>
            <a:ext cx="309067" cy="30906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13232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тест на реальных звонках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реальных вишинг-звонков, опубликованных финрегулятором Кореи (FSS), против 200 обычных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звонков скамеров против 211 звонков в банк (публичные записи)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на казахский — модель ISSAI KazLLM (партнёр конкурса)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записи звонков мошенников жителям Казахстана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Реальных казахоязычных записей мошеннических звонков в открытом доступе нет — это зафиксировано как ограничение.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Нашли и устранили три ловушки синтетических данных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переделан трижды: тема выдавала класс, формулировки теста повторяли обучение, вежливость выдавала настоящего сотрудника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173736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 — корпус v3.1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простой модели по одному приветствию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514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простой модели по одному приветствию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88%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Реплики теста, собранные из обучающих формулировок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611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Реплики теста, собранные из обучающих формулировок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09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57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звонки: скам против звонков в банк, AUC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709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5257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звонки: скам против звонков в банк, AUC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3566160"/>
            <a:ext cx="822960" cy="548640"/>
          </a:xfrm>
          <a:prstGeom prst="rightArrow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ловушка теперь проверяется автоматически: темы, начало разговора, форма реплик, слова доверия (check_separability.py)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Результаты: работает на реальных звонках — правила нет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на реальных звонках, среднее по 3 запускам (0.5 — случайное угадывание)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06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 — ДО запроса кода или перевода (правила: 36%), и ложных тревог вчетверо меньше: 9% против 43%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18120" y="393192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4069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из 4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4937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реальных звонков мошенников жителям Казахстана распознали правила: живая речь не совпадает с их ключевыми словами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трудный набор — легитимный звонок на ту же тему (0.67): главное направление доработки. Порог нужно калибровать на данных банка.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Банки обучают модель вместе, не передавая разговоры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Эксперимент: 3 банка, каждый видел только часть мошеннических схем. Метрика — ROC AUC на отложенном тесте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305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116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3317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звонки — у себя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0" y="2167128"/>
            <a:ext cx="685800" cy="274320"/>
          </a:xfrm>
          <a:prstGeom prst="rightArrow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10896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329184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4564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657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звонки — у себя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0" y="3493008"/>
            <a:ext cx="685800" cy="274320"/>
          </a:xfrm>
          <a:prstGeom prst="rightArrow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4348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61772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78231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3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463040" y="4983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звонки — у себя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0" y="4818888"/>
            <a:ext cx="685800" cy="274320"/>
          </a:xfrm>
          <a:prstGeom prst="rightArrow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566160" y="246888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069080" y="2651760"/>
            <a:ext cx="731520" cy="7315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645" y="282732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657600" y="3520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Усреднение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весов LoRA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365760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 МБ за раунд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669280" y="1600200"/>
          <a:ext cx="59436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8" name="Text 21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Банк, который не встречал схему, ловит её плохо (0.59). Обмен весами закрывает две трети разрыва — без передачи записей.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Демо: риск растёт по ходу разговора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Реплики из отложенного набора — модель их не видела. Streamlit-прототип: разговор по репликам и живой звонок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6126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1508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Мошенник-«техподдержка» (рус.)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949440" y="178308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0" y="1984248"/>
            <a:ext cx="274320" cy="2743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1920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3 — тревога модели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2860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«Чтобы вернуть деньги за двойное списание, нужно подключиться к приложению» — за 3 реплики до захвата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49440" y="310896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0" y="3310128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246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8 — правила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3611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слова срабатывают, когда человек уже в мобильном банке под диктовку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49440" y="44348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0" y="4636008"/>
            <a:ext cx="274320" cy="274320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0" y="4572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Настоящая техподдержка (каз.)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49377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«Телефонды қоймаңыз, желіні тексеремін» — правила: ложная тревога; у модели тревоги нет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звонок: от конца фразы до тревоги 3,3 с на процессоре ноутбука   ·   Видео-демо: [ссылка]   ·   Код: github.com/daurenoralbek/qalqan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внедрения: от прототипа к пилоту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— TRL 4: прототип проверен на синтетике и реальных публичных записях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1783080"/>
            <a:ext cx="914400" cy="9144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57400" y="2240280"/>
            <a:ext cx="1325880" cy="0"/>
          </a:xfrm>
          <a:prstGeom prst="line">
            <a:avLst/>
          </a:prstGeom>
          <a:noFill/>
          <a:ln w="25400">
            <a:solidFill>
              <a:srgbClr val="E3E6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42900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Прототип, корпус, внешний тест, федеративный эксперимент, демо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2240280"/>
            <a:ext cx="1325880" cy="0"/>
          </a:xfrm>
          <a:prstGeom prst="line">
            <a:avLst/>
          </a:prstGeom>
          <a:noFill/>
          <a:ln w="254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– Q1 2027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329184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342900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 банком: обезличенные звонки колл-центра, калибровка порога, вычитка казахского носителями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23560" y="178308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2240280"/>
            <a:ext cx="1325880" cy="0"/>
          </a:xfrm>
          <a:prstGeom prst="line">
            <a:avLst/>
          </a:prstGeom>
          <a:noFill/>
          <a:ln w="25400">
            <a:solidFill>
              <a:srgbClr val="E3E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329184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342900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Потоковый ASR kk/ru (модели ISSAI), API для антифрода банка или оператора, задержка &lt; 1 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3840" y="178308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7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78240" y="2240280"/>
            <a:ext cx="1325880" cy="0"/>
          </a:xfrm>
          <a:prstGeom prst="line">
            <a:avLst/>
          </a:prstGeom>
          <a:noFill/>
          <a:ln w="25400">
            <a:solidFill>
              <a:srgbClr val="E3E6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69480" y="329184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0" y="342900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 клиентами: приложение банка или сеть оператора, с согласия клиента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104120" y="1783080"/>
            <a:ext cx="914400" cy="9144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0412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509760" y="329184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46920" y="342900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Федерация банков через АБРК / Антифрод-центр НБ РК: общая модель без обмена записями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интеграции: антифрод банка (входящие на номера клиентов по согласию) · оператор связи · мобильное приложение банка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как мы их снимаем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Синтетика ≠ живая речь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Внешний тест на реальных звонках; пилот на обезличенных звонках банка; расширение фразобанка с носителями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 не переносится на реальные звонки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Калибровка порога на данных каждого банка — часть федеративного протокола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Ошибки ASR на казахском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Модели ISSAI; обучение на тексте с ошибками распознавания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Приватность и закон о персональных данных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на стороне банка или устройства, обмен только весами, согласие клиента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Мошенники меняют сценарии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Федеративное дообучение на новых случаях; таксономия обновляется по сводкам ведомств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Клонированный голос по тексту почти не отличить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Акустический модуль (следующий этап): текст ограничен сверху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Ресурсы, команда и что нужно для пилота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733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Вычисления: 0 ₸ — Kaggle T4, ~2 GPU-часа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модели: XLM-R, NLLB, Whisper, ISSAI KazLLM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и корпус — открытые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150876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67335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(оценка)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3774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GPU-сервер (T4/L4) для ASR и модели — порядка $400–600 в месяц в облаке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Вычитка казахского фразобанка носителем — ~40 часов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антифродом банка — силами банка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75320" y="150876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67335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запрос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3774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[ФИО] — ML, данные, разработка (SDU University)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Нужны: банк-партнёр с обезличенными звонками, эксперт антифрода, наставник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 конкурса ISSAI — казахский ASR и LLM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Қалқан — предупреждение, пока деньги ещё у клиента.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Қалқан — детектор мошеннических звонков</dc:title>
  <dc:subject>PptxGenJS Presentation</dc:subject>
  <dc:creator>[ФИО], SDU University</dc:creator>
  <cp:lastModifiedBy>[ФИО], SDU University</cp:lastModifiedBy>
  <cp:revision>1</cp:revision>
  <dcterms:created xsi:type="dcterms:W3CDTF">2026-09-23T09:13:08Z</dcterms:created>
  <dcterms:modified xsi:type="dcterms:W3CDTF">2026-09-23T09:13:08Z</dcterms:modified>
</cp:coreProperties>
</file>